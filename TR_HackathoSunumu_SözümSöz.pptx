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75" r:id="rId5"/>
    <p:sldId id="283" r:id="rId6"/>
    <p:sldId id="269" r:id="rId7"/>
    <p:sldId id="274" r:id="rId8"/>
    <p:sldId id="259" r:id="rId9"/>
    <p:sldId id="260" r:id="rId10"/>
    <p:sldId id="261" r:id="rId11"/>
    <p:sldId id="262" r:id="rId12"/>
    <p:sldId id="263" r:id="rId13"/>
    <p:sldId id="264" r:id="rId14"/>
    <p:sldId id="265" r:id="rId15"/>
    <p:sldId id="266" r:id="rId16"/>
    <p:sldId id="276" r:id="rId17"/>
    <p:sldId id="278" r:id="rId18"/>
    <p:sldId id="284" r:id="rId19"/>
    <p:sldId id="267" r:id="rId20"/>
    <p:sldId id="281" r:id="rId21"/>
    <p:sldId id="282" r:id="rId22"/>
    <p:sldId id="270" r:id="rId23"/>
    <p:sldId id="271" r:id="rId24"/>
    <p:sldId id="272" r:id="rId25"/>
    <p:sldId id="273"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12"/>
    <p:restoredTop sz="94658"/>
  </p:normalViewPr>
  <p:slideViewPr>
    <p:cSldViewPr snapToGrid="0" snapToObjects="1">
      <p:cViewPr varScale="1">
        <p:scale>
          <a:sx n="101" d="100"/>
          <a:sy n="101" d="100"/>
        </p:scale>
        <p:origin x="72" y="1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890424-0B2F-4FB9-B123-55A7973F429E}" type="datetimeFigureOut">
              <a:rPr lang="tr-TR" smtClean="0"/>
              <a:t>30.08.2026</a:t>
            </a:fld>
            <a:endParaRPr lang="tr-TR"/>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92DF1D-E193-4BC2-821D-B9D00F6579DC}" type="slidenum">
              <a:rPr lang="tr-TR" smtClean="0"/>
              <a:t>‹#›</a:t>
            </a:fld>
            <a:endParaRPr lang="tr-TR"/>
          </a:p>
        </p:txBody>
      </p:sp>
    </p:spTree>
    <p:extLst>
      <p:ext uri="{BB962C8B-B14F-4D97-AF65-F5344CB8AC3E}">
        <p14:creationId xmlns:p14="http://schemas.microsoft.com/office/powerpoint/2010/main" val="4203057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dirty="0"/>
          </a:p>
        </p:txBody>
      </p:sp>
      <p:sp>
        <p:nvSpPr>
          <p:cNvPr id="4" name="Slayt Numarası Yer Tutucusu 3"/>
          <p:cNvSpPr>
            <a:spLocks noGrp="1"/>
          </p:cNvSpPr>
          <p:nvPr>
            <p:ph type="sldNum" sz="quarter" idx="5"/>
          </p:nvPr>
        </p:nvSpPr>
        <p:spPr/>
        <p:txBody>
          <a:bodyPr/>
          <a:lstStyle/>
          <a:p>
            <a:fld id="{E192DF1D-E193-4BC2-821D-B9D00F6579DC}" type="slidenum">
              <a:rPr lang="tr-TR" smtClean="0"/>
              <a:t>23</a:t>
            </a:fld>
            <a:endParaRPr lang="tr-TR"/>
          </a:p>
        </p:txBody>
      </p:sp>
    </p:spTree>
    <p:extLst>
      <p:ext uri="{BB962C8B-B14F-4D97-AF65-F5344CB8AC3E}">
        <p14:creationId xmlns:p14="http://schemas.microsoft.com/office/powerpoint/2010/main" val="348622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5.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52.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hyperlink" Target="https://github.com/Caagan/Sozum-Soz-Uygulamasi-EN"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1095375" y="1669851"/>
            <a:ext cx="10001250" cy="800100"/>
          </a:xfrm>
          <a:prstGeom prst="rect">
            <a:avLst/>
          </a:prstGeom>
          <a:noFill/>
        </p:spPr>
        <p:txBody>
          <a:bodyPr wrap="square" lIns="0" tIns="0" rIns="0" bIns="0" anchor="t">
            <a:spAutoFit/>
          </a:bodyPr>
          <a:lstStyle/>
          <a:p>
            <a:pPr algn="ctr">
              <a:lnSpc>
                <a:spcPts val="6300"/>
              </a:lnSpc>
            </a:pPr>
            <a:r>
              <a:rPr sz="5250" b="1" i="0" u="none">
                <a:solidFill>
                  <a:srgbClr val="38BDF8"/>
                </a:solidFill>
                <a:latin typeface="Poppins"/>
              </a:rPr>
              <a:t>SÖZÜM SÖZ</a:t>
            </a:r>
          </a:p>
        </p:txBody>
      </p:sp>
      <p:sp>
        <p:nvSpPr>
          <p:cNvPr id="4" name="TextBox 3"/>
          <p:cNvSpPr txBox="1"/>
          <p:nvPr/>
        </p:nvSpPr>
        <p:spPr>
          <a:xfrm>
            <a:off x="1333500" y="2755701"/>
            <a:ext cx="9525000" cy="853380"/>
          </a:xfrm>
          <a:prstGeom prst="rect">
            <a:avLst/>
          </a:prstGeom>
          <a:noFill/>
        </p:spPr>
        <p:txBody>
          <a:bodyPr wrap="square" lIns="0" tIns="0" rIns="0" bIns="0" anchor="t">
            <a:spAutoFit/>
          </a:bodyPr>
          <a:lstStyle/>
          <a:p>
            <a:pPr algn="ctr">
              <a:lnSpc>
                <a:spcPts val="3359"/>
              </a:lnSpc>
            </a:pPr>
            <a:r>
              <a:rPr sz="2100" b="0" i="0" u="none">
                <a:solidFill>
                  <a:srgbClr val="7DD3FC"/>
                </a:solidFill>
                <a:latin typeface="Inter SemiBold"/>
              </a:rPr>
              <a:t>Dijital Bağımlılıkla Mücadelede Farkındalık, Taahhüt ve Sürdürülebilir Alışkanlıklar</a:t>
            </a:r>
          </a:p>
        </p:txBody>
      </p:sp>
      <p:sp>
        <p:nvSpPr>
          <p:cNvPr id="5" name="TextBox 4"/>
          <p:cNvSpPr txBox="1"/>
          <p:nvPr/>
        </p:nvSpPr>
        <p:spPr>
          <a:xfrm>
            <a:off x="1333500" y="3894832"/>
            <a:ext cx="9525000" cy="335160"/>
          </a:xfrm>
          <a:prstGeom prst="rect">
            <a:avLst/>
          </a:prstGeom>
          <a:noFill/>
        </p:spPr>
        <p:txBody>
          <a:bodyPr wrap="square" lIns="0" tIns="0" rIns="0" bIns="0" anchor="t">
            <a:spAutoFit/>
          </a:bodyPr>
          <a:lstStyle/>
          <a:p>
            <a:pPr algn="ctr">
              <a:lnSpc>
                <a:spcPts val="2640"/>
              </a:lnSpc>
            </a:pPr>
            <a:r>
              <a:rPr sz="1650" b="0" i="0" u="none">
                <a:solidFill>
                  <a:srgbClr val="BAE6FD"/>
                </a:solidFill>
                <a:latin typeface="Inter"/>
              </a:rPr>
              <a:t>Söz ver. Takip et. Kazan. Dijital alışkanlıklarını daha bilinçli yönet.</a:t>
            </a:r>
          </a:p>
        </p:txBody>
      </p:sp>
      <p:sp>
        <p:nvSpPr>
          <p:cNvPr id="6" name="TextBox 5"/>
          <p:cNvSpPr txBox="1"/>
          <p:nvPr/>
        </p:nvSpPr>
        <p:spPr>
          <a:xfrm>
            <a:off x="1333500" y="4801492"/>
            <a:ext cx="9525000" cy="243780"/>
          </a:xfrm>
          <a:prstGeom prst="rect">
            <a:avLst/>
          </a:prstGeom>
          <a:noFill/>
        </p:spPr>
        <p:txBody>
          <a:bodyPr wrap="square" lIns="0" tIns="0" rIns="0" bIns="0" anchor="t">
            <a:spAutoFit/>
          </a:bodyPr>
          <a:lstStyle/>
          <a:p>
            <a:pPr algn="ctr">
              <a:lnSpc>
                <a:spcPts val="1920"/>
              </a:lnSpc>
            </a:pPr>
            <a:r>
              <a:rPr sz="1200" b="0" i="0" u="none">
                <a:solidFill>
                  <a:srgbClr val="94A3B8"/>
                </a:solidFill>
                <a:latin typeface="Inter Medium"/>
              </a:rPr>
              <a:t>SAMSUNG INNOVATION CAMPUS — GENERATIVE AI HACKATHON | GRUP 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833562"/>
            <a:ext cx="3492549" cy="4143375"/>
          </a:xfrm>
          <a:prstGeom prst="rect">
            <a:avLst/>
          </a:prstGeom>
        </p:spPr>
      </p:pic>
      <p:pic>
        <p:nvPicPr>
          <p:cNvPr id="4" name="Picture 3" descr="image.png"/>
          <p:cNvPicPr>
            <a:picLocks noChangeAspect="1"/>
          </p:cNvPicPr>
          <p:nvPr/>
        </p:nvPicPr>
        <p:blipFill>
          <a:blip r:embed="rId4"/>
          <a:stretch>
            <a:fillRect/>
          </a:stretch>
        </p:blipFill>
        <p:spPr>
          <a:xfrm>
            <a:off x="4349799" y="1833562"/>
            <a:ext cx="3492549" cy="4143375"/>
          </a:xfrm>
          <a:prstGeom prst="rect">
            <a:avLst/>
          </a:prstGeom>
        </p:spPr>
      </p:pic>
      <p:pic>
        <p:nvPicPr>
          <p:cNvPr id="5" name="Picture 4" descr="image.png"/>
          <p:cNvPicPr>
            <a:picLocks noChangeAspect="1"/>
          </p:cNvPicPr>
          <p:nvPr/>
        </p:nvPicPr>
        <p:blipFill>
          <a:blip r:embed="rId5"/>
          <a:stretch>
            <a:fillRect/>
          </a:stretch>
        </p:blipFill>
        <p:spPr>
          <a:xfrm>
            <a:off x="8128099" y="1833562"/>
            <a:ext cx="3492549" cy="4143375"/>
          </a:xfrm>
          <a:prstGeom prst="rect">
            <a:avLst/>
          </a:prstGeom>
        </p:spPr>
      </p:pic>
      <p:sp>
        <p:nvSpPr>
          <p:cNvPr id="6" name="TextBox 5"/>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Proje Nedir?</a:t>
            </a:r>
          </a:p>
        </p:txBody>
      </p:sp>
      <p:sp>
        <p:nvSpPr>
          <p:cNvPr id="7" name="TextBox 6"/>
          <p:cNvSpPr txBox="1"/>
          <p:nvPr/>
        </p:nvSpPr>
        <p:spPr>
          <a:xfrm>
            <a:off x="1817637" y="3071812"/>
            <a:ext cx="1000125" cy="400050"/>
          </a:xfrm>
          <a:prstGeom prst="rect">
            <a:avLst/>
          </a:prstGeom>
          <a:noFill/>
        </p:spPr>
        <p:txBody>
          <a:bodyPr wrap="square" lIns="0" tIns="0" rIns="0" bIns="0" anchor="t">
            <a:spAutoFit/>
          </a:bodyPr>
          <a:lstStyle/>
          <a:p>
            <a:pPr algn="ctr"/>
            <a:r>
              <a:rPr sz="2100" b="1" i="0" u="none">
                <a:solidFill>
                  <a:srgbClr val="38BDF8"/>
                </a:solidFill>
                <a:latin typeface="Poppins"/>
              </a:rPr>
              <a:t>SORUN</a:t>
            </a:r>
          </a:p>
        </p:txBody>
      </p:sp>
      <p:sp>
        <p:nvSpPr>
          <p:cNvPr id="8" name="TextBox 7"/>
          <p:cNvSpPr txBox="1"/>
          <p:nvPr/>
        </p:nvSpPr>
        <p:spPr>
          <a:xfrm>
            <a:off x="866775" y="3614737"/>
            <a:ext cx="2901999" cy="12192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Kontrolsüz ekran ve uygulama kullanımı; farkındalık eksikliği ve davranış değişikliğini sürdürme zorluğu.</a:t>
            </a:r>
          </a:p>
        </p:txBody>
      </p:sp>
      <p:sp>
        <p:nvSpPr>
          <p:cNvPr id="9" name="TextBox 8"/>
          <p:cNvSpPr txBox="1"/>
          <p:nvPr/>
        </p:nvSpPr>
        <p:spPr>
          <a:xfrm>
            <a:off x="5565933" y="3071812"/>
            <a:ext cx="1060132" cy="400050"/>
          </a:xfrm>
          <a:prstGeom prst="rect">
            <a:avLst/>
          </a:prstGeom>
          <a:noFill/>
        </p:spPr>
        <p:txBody>
          <a:bodyPr wrap="square" lIns="0" tIns="0" rIns="0" bIns="0" anchor="t">
            <a:spAutoFit/>
          </a:bodyPr>
          <a:lstStyle/>
          <a:p>
            <a:pPr algn="ctr"/>
            <a:r>
              <a:rPr sz="2100" b="1" i="0" u="none">
                <a:solidFill>
                  <a:srgbClr val="38BDF8"/>
                </a:solidFill>
                <a:latin typeface="Poppins"/>
              </a:rPr>
              <a:t>ÇÖZÜM</a:t>
            </a:r>
          </a:p>
        </p:txBody>
      </p:sp>
      <p:sp>
        <p:nvSpPr>
          <p:cNvPr id="10" name="TextBox 9"/>
          <p:cNvSpPr txBox="1"/>
          <p:nvPr/>
        </p:nvSpPr>
        <p:spPr>
          <a:xfrm>
            <a:off x="4645074" y="3614737"/>
            <a:ext cx="2901999" cy="18288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SÖZÜM SÖZ, kullanıcının kendi hedefini belirlemesini, ilerlemesini takip etmesini ve motivasyonunu korumasını hedefleyen bir dijital iyi oluş prototipidir.</a:t>
            </a:r>
          </a:p>
        </p:txBody>
      </p:sp>
      <p:sp>
        <p:nvSpPr>
          <p:cNvPr id="11" name="TextBox 10"/>
          <p:cNvSpPr txBox="1"/>
          <p:nvPr/>
        </p:nvSpPr>
        <p:spPr>
          <a:xfrm>
            <a:off x="9059197" y="3071812"/>
            <a:ext cx="1630203" cy="400050"/>
          </a:xfrm>
          <a:prstGeom prst="rect">
            <a:avLst/>
          </a:prstGeom>
          <a:noFill/>
        </p:spPr>
        <p:txBody>
          <a:bodyPr wrap="square" lIns="0" tIns="0" rIns="0" bIns="0" anchor="t">
            <a:spAutoFit/>
          </a:bodyPr>
          <a:lstStyle/>
          <a:p>
            <a:pPr algn="ctr"/>
            <a:r>
              <a:rPr sz="2100" b="1" i="0" u="none">
                <a:solidFill>
                  <a:srgbClr val="38BDF8"/>
                </a:solidFill>
                <a:latin typeface="Poppins"/>
              </a:rPr>
              <a:t>TEMEL FİKİR</a:t>
            </a:r>
          </a:p>
        </p:txBody>
      </p:sp>
      <p:sp>
        <p:nvSpPr>
          <p:cNvPr id="12" name="TextBox 11"/>
          <p:cNvSpPr txBox="1"/>
          <p:nvPr/>
        </p:nvSpPr>
        <p:spPr>
          <a:xfrm>
            <a:off x="8423374" y="3614737"/>
            <a:ext cx="2901999" cy="12192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Taahhüt + takip + ödül + yapay zekâ destekli sohbet ile kullanıcıyı yargılamadan desteklemek.</a:t>
            </a:r>
          </a:p>
        </p:txBody>
      </p:sp>
      <p:pic>
        <p:nvPicPr>
          <p:cNvPr id="13" name="Picture 12" descr="image.png"/>
          <p:cNvPicPr>
            <a:picLocks noChangeAspect="1"/>
          </p:cNvPicPr>
          <p:nvPr/>
        </p:nvPicPr>
        <p:blipFill>
          <a:blip r:embed="rId6"/>
          <a:stretch>
            <a:fillRect/>
          </a:stretch>
        </p:blipFill>
        <p:spPr>
          <a:xfrm>
            <a:off x="2089100" y="2319337"/>
            <a:ext cx="457200" cy="457200"/>
          </a:xfrm>
          <a:prstGeom prst="rect">
            <a:avLst/>
          </a:prstGeom>
        </p:spPr>
      </p:pic>
      <p:pic>
        <p:nvPicPr>
          <p:cNvPr id="14" name="Picture 13" descr="image.png"/>
          <p:cNvPicPr>
            <a:picLocks noChangeAspect="1"/>
          </p:cNvPicPr>
          <p:nvPr/>
        </p:nvPicPr>
        <p:blipFill>
          <a:blip r:embed="rId7"/>
          <a:stretch>
            <a:fillRect/>
          </a:stretch>
        </p:blipFill>
        <p:spPr>
          <a:xfrm>
            <a:off x="5924550" y="2319337"/>
            <a:ext cx="342900" cy="457200"/>
          </a:xfrm>
          <a:prstGeom prst="rect">
            <a:avLst/>
          </a:prstGeom>
        </p:spPr>
      </p:pic>
      <p:pic>
        <p:nvPicPr>
          <p:cNvPr id="15" name="Picture 14" descr="image.png"/>
          <p:cNvPicPr>
            <a:picLocks noChangeAspect="1"/>
          </p:cNvPicPr>
          <p:nvPr/>
        </p:nvPicPr>
        <p:blipFill>
          <a:blip r:embed="rId8"/>
          <a:stretch>
            <a:fillRect/>
          </a:stretch>
        </p:blipFill>
        <p:spPr>
          <a:xfrm>
            <a:off x="9645699" y="2319337"/>
            <a:ext cx="457200" cy="457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64023"/>
            <a:ext cx="3492549" cy="3228975"/>
          </a:xfrm>
          <a:prstGeom prst="rect">
            <a:avLst/>
          </a:prstGeom>
        </p:spPr>
      </p:pic>
      <p:pic>
        <p:nvPicPr>
          <p:cNvPr id="4" name="Picture 3" descr="image.png"/>
          <p:cNvPicPr>
            <a:picLocks noChangeAspect="1"/>
          </p:cNvPicPr>
          <p:nvPr/>
        </p:nvPicPr>
        <p:blipFill>
          <a:blip r:embed="rId4"/>
          <a:stretch>
            <a:fillRect/>
          </a:stretch>
        </p:blipFill>
        <p:spPr>
          <a:xfrm>
            <a:off x="4349799" y="2664023"/>
            <a:ext cx="3492549" cy="3228975"/>
          </a:xfrm>
          <a:prstGeom prst="rect">
            <a:avLst/>
          </a:prstGeom>
        </p:spPr>
      </p:pic>
      <p:pic>
        <p:nvPicPr>
          <p:cNvPr id="5" name="Picture 4" descr="image.png"/>
          <p:cNvPicPr>
            <a:picLocks noChangeAspect="1"/>
          </p:cNvPicPr>
          <p:nvPr/>
        </p:nvPicPr>
        <p:blipFill>
          <a:blip r:embed="rId5"/>
          <a:stretch>
            <a:fillRect/>
          </a:stretch>
        </p:blipFill>
        <p:spPr>
          <a:xfrm>
            <a:off x="8128099" y="2664023"/>
            <a:ext cx="3492549" cy="3228975"/>
          </a:xfrm>
          <a:prstGeom prst="rect">
            <a:avLst/>
          </a:prstGeom>
        </p:spPr>
      </p:pic>
      <p:sp>
        <p:nvSpPr>
          <p:cNvPr id="6" name="TextBox 5"/>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Neden Bu Projeyi Yaptık?</a:t>
            </a:r>
          </a:p>
        </p:txBody>
      </p:sp>
      <p:sp>
        <p:nvSpPr>
          <p:cNvPr id="7" name="TextBox 6"/>
          <p:cNvSpPr txBox="1"/>
          <p:nvPr/>
        </p:nvSpPr>
        <p:spPr>
          <a:xfrm>
            <a:off x="571500" y="1917352"/>
            <a:ext cx="11049000" cy="365670"/>
          </a:xfrm>
          <a:prstGeom prst="rect">
            <a:avLst/>
          </a:prstGeom>
          <a:noFill/>
        </p:spPr>
        <p:txBody>
          <a:bodyPr wrap="square" lIns="0" tIns="0" rIns="0" bIns="0" anchor="t">
            <a:spAutoFit/>
          </a:bodyPr>
          <a:lstStyle/>
          <a:p>
            <a:pPr algn="ctr">
              <a:lnSpc>
                <a:spcPts val="2879"/>
              </a:lnSpc>
            </a:pPr>
            <a:r>
              <a:rPr sz="1800" b="0" i="0" u="none" dirty="0">
                <a:solidFill>
                  <a:srgbClr val="7DD3FC"/>
                </a:solidFill>
                <a:latin typeface="Inter SemiBold"/>
              </a:rPr>
              <a:t>Ana </a:t>
            </a:r>
            <a:r>
              <a:rPr sz="1800" b="0" i="0" u="none" dirty="0" err="1">
                <a:solidFill>
                  <a:srgbClr val="7DD3FC"/>
                </a:solidFill>
                <a:latin typeface="Inter SemiBold"/>
              </a:rPr>
              <a:t>mesaj</a:t>
            </a:r>
            <a:r>
              <a:rPr sz="1800" b="0" i="0" u="none" dirty="0">
                <a:solidFill>
                  <a:srgbClr val="7DD3FC"/>
                </a:solidFill>
                <a:latin typeface="Inter SemiBold"/>
              </a:rPr>
              <a:t>: </a:t>
            </a:r>
            <a:r>
              <a:rPr sz="1800" b="0" i="0" u="none" dirty="0" err="1">
                <a:solidFill>
                  <a:srgbClr val="7DD3FC"/>
                </a:solidFill>
                <a:latin typeface="Inter SemiBold"/>
              </a:rPr>
              <a:t>Yasaklama</a:t>
            </a:r>
            <a:r>
              <a:rPr sz="1800" b="0" i="0" u="none" dirty="0">
                <a:solidFill>
                  <a:srgbClr val="7DD3FC"/>
                </a:solidFill>
                <a:latin typeface="Inter SemiBold"/>
              </a:rPr>
              <a:t> </a:t>
            </a:r>
            <a:r>
              <a:rPr sz="1800" b="0" i="0" u="none" dirty="0" err="1">
                <a:solidFill>
                  <a:srgbClr val="7DD3FC"/>
                </a:solidFill>
                <a:latin typeface="Inter SemiBold"/>
              </a:rPr>
              <a:t>değil</a:t>
            </a:r>
            <a:r>
              <a:rPr sz="1800" b="0" i="0" u="none" dirty="0">
                <a:solidFill>
                  <a:srgbClr val="7DD3FC"/>
                </a:solidFill>
                <a:latin typeface="Inter SemiBold"/>
              </a:rPr>
              <a:t>, </a:t>
            </a:r>
            <a:r>
              <a:rPr sz="1800" b="0" i="0" u="none" dirty="0" err="1">
                <a:solidFill>
                  <a:srgbClr val="7DD3FC"/>
                </a:solidFill>
                <a:latin typeface="Inter SemiBold"/>
              </a:rPr>
              <a:t>farkındalık</a:t>
            </a:r>
            <a:r>
              <a:rPr sz="1800" b="0" i="0" u="none" dirty="0">
                <a:solidFill>
                  <a:srgbClr val="7DD3FC"/>
                </a:solidFill>
                <a:latin typeface="Inter SemiBold"/>
              </a:rPr>
              <a:t> ve </a:t>
            </a:r>
            <a:r>
              <a:rPr sz="1800" b="0" i="0" u="none" dirty="0" err="1">
                <a:solidFill>
                  <a:srgbClr val="7DD3FC"/>
                </a:solidFill>
                <a:latin typeface="Inter SemiBold"/>
              </a:rPr>
              <a:t>sürdürülebilir</a:t>
            </a:r>
            <a:r>
              <a:rPr sz="1800" b="0" i="0" u="none" dirty="0">
                <a:solidFill>
                  <a:srgbClr val="7DD3FC"/>
                </a:solidFill>
                <a:latin typeface="Inter SemiBold"/>
              </a:rPr>
              <a:t> </a:t>
            </a:r>
            <a:r>
              <a:rPr sz="1800" b="0" i="0" u="none" dirty="0" err="1">
                <a:solidFill>
                  <a:srgbClr val="7DD3FC"/>
                </a:solidFill>
                <a:latin typeface="Inter SemiBold"/>
              </a:rPr>
              <a:t>davranış</a:t>
            </a:r>
            <a:r>
              <a:rPr sz="1800" b="0" i="0" u="none" dirty="0">
                <a:solidFill>
                  <a:srgbClr val="7DD3FC"/>
                </a:solidFill>
                <a:latin typeface="Inter SemiBold"/>
              </a:rPr>
              <a:t> </a:t>
            </a:r>
            <a:r>
              <a:rPr sz="1800" b="0" i="0" u="none" dirty="0" err="1">
                <a:solidFill>
                  <a:srgbClr val="7DD3FC"/>
                </a:solidFill>
                <a:latin typeface="Inter SemiBold"/>
              </a:rPr>
              <a:t>değişimi</a:t>
            </a:r>
            <a:r>
              <a:rPr sz="1800" b="0" i="0" u="none" dirty="0">
                <a:solidFill>
                  <a:srgbClr val="7DD3FC"/>
                </a:solidFill>
                <a:latin typeface="Inter SemiBold"/>
              </a:rPr>
              <a:t>.</a:t>
            </a:r>
          </a:p>
        </p:txBody>
      </p:sp>
      <p:sp>
        <p:nvSpPr>
          <p:cNvPr id="8" name="TextBox 7"/>
          <p:cNvSpPr txBox="1"/>
          <p:nvPr/>
        </p:nvSpPr>
        <p:spPr>
          <a:xfrm>
            <a:off x="1467594" y="3902273"/>
            <a:ext cx="1700212" cy="400050"/>
          </a:xfrm>
          <a:prstGeom prst="rect">
            <a:avLst/>
          </a:prstGeom>
          <a:noFill/>
        </p:spPr>
        <p:txBody>
          <a:bodyPr wrap="square" lIns="0" tIns="0" rIns="0" bIns="0" anchor="t">
            <a:spAutoFit/>
          </a:bodyPr>
          <a:lstStyle/>
          <a:p>
            <a:pPr algn="ctr"/>
            <a:r>
              <a:rPr sz="2100" b="1" i="0" u="none">
                <a:solidFill>
                  <a:srgbClr val="38BDF8"/>
                </a:solidFill>
                <a:latin typeface="Poppins"/>
              </a:rPr>
              <a:t>Farkındalık</a:t>
            </a:r>
          </a:p>
        </p:txBody>
      </p:sp>
      <p:sp>
        <p:nvSpPr>
          <p:cNvPr id="9" name="TextBox 8"/>
          <p:cNvSpPr txBox="1"/>
          <p:nvPr/>
        </p:nvSpPr>
        <p:spPr>
          <a:xfrm>
            <a:off x="866775" y="4445198"/>
            <a:ext cx="2901999" cy="9144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Kullanıcı kendi hedefini ve dijital alışkanlığını görünür hale getirir.</a:t>
            </a:r>
          </a:p>
        </p:txBody>
      </p:sp>
      <p:sp>
        <p:nvSpPr>
          <p:cNvPr id="10" name="TextBox 9"/>
          <p:cNvSpPr txBox="1"/>
          <p:nvPr/>
        </p:nvSpPr>
        <p:spPr>
          <a:xfrm>
            <a:off x="4745831" y="3902273"/>
            <a:ext cx="2700337" cy="400050"/>
          </a:xfrm>
          <a:prstGeom prst="rect">
            <a:avLst/>
          </a:prstGeom>
          <a:noFill/>
        </p:spPr>
        <p:txBody>
          <a:bodyPr wrap="square" lIns="0" tIns="0" rIns="0" bIns="0" anchor="t">
            <a:spAutoFit/>
          </a:bodyPr>
          <a:lstStyle/>
          <a:p>
            <a:pPr algn="ctr"/>
            <a:r>
              <a:rPr sz="2100" b="1" i="0" u="none">
                <a:solidFill>
                  <a:srgbClr val="38BDF8"/>
                </a:solidFill>
                <a:latin typeface="Poppins"/>
              </a:rPr>
              <a:t>Davranış Değişimi</a:t>
            </a:r>
          </a:p>
        </p:txBody>
      </p:sp>
      <p:sp>
        <p:nvSpPr>
          <p:cNvPr id="11" name="TextBox 10"/>
          <p:cNvSpPr txBox="1"/>
          <p:nvPr/>
        </p:nvSpPr>
        <p:spPr>
          <a:xfrm>
            <a:off x="4645074" y="4445198"/>
            <a:ext cx="2901999" cy="9144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Küçük ve ölçülebilir taahhütlerle değişimi erişilebilir hale getirir.</a:t>
            </a:r>
          </a:p>
        </p:txBody>
      </p:sp>
      <p:sp>
        <p:nvSpPr>
          <p:cNvPr id="12" name="TextBox 11"/>
          <p:cNvSpPr txBox="1"/>
          <p:nvPr/>
        </p:nvSpPr>
        <p:spPr>
          <a:xfrm>
            <a:off x="9014192" y="3902273"/>
            <a:ext cx="1720215" cy="400050"/>
          </a:xfrm>
          <a:prstGeom prst="rect">
            <a:avLst/>
          </a:prstGeom>
          <a:noFill/>
        </p:spPr>
        <p:txBody>
          <a:bodyPr wrap="square" lIns="0" tIns="0" rIns="0" bIns="0" anchor="t">
            <a:spAutoFit/>
          </a:bodyPr>
          <a:lstStyle/>
          <a:p>
            <a:pPr algn="ctr"/>
            <a:r>
              <a:rPr sz="2100" b="1" i="0" u="none">
                <a:solidFill>
                  <a:srgbClr val="38BDF8"/>
                </a:solidFill>
                <a:latin typeface="Poppins"/>
              </a:rPr>
              <a:t>Motivasyon</a:t>
            </a:r>
          </a:p>
        </p:txBody>
      </p:sp>
      <p:sp>
        <p:nvSpPr>
          <p:cNvPr id="13" name="TextBox 12"/>
          <p:cNvSpPr txBox="1"/>
          <p:nvPr/>
        </p:nvSpPr>
        <p:spPr>
          <a:xfrm>
            <a:off x="8423374" y="4445198"/>
            <a:ext cx="2901999" cy="6096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Puan ve ödül mantığıyla devamlılığı destekler.</a:t>
            </a:r>
          </a:p>
        </p:txBody>
      </p:sp>
      <p:pic>
        <p:nvPicPr>
          <p:cNvPr id="14" name="Picture 13" descr="image.png"/>
          <p:cNvPicPr>
            <a:picLocks noChangeAspect="1"/>
          </p:cNvPicPr>
          <p:nvPr/>
        </p:nvPicPr>
        <p:blipFill>
          <a:blip r:embed="rId6"/>
          <a:stretch>
            <a:fillRect/>
          </a:stretch>
        </p:blipFill>
        <p:spPr>
          <a:xfrm>
            <a:off x="2060525" y="3149798"/>
            <a:ext cx="514350" cy="457200"/>
          </a:xfrm>
          <a:prstGeom prst="rect">
            <a:avLst/>
          </a:prstGeom>
        </p:spPr>
      </p:pic>
      <p:pic>
        <p:nvPicPr>
          <p:cNvPr id="15" name="Picture 14" descr="image.png"/>
          <p:cNvPicPr>
            <a:picLocks noChangeAspect="1"/>
          </p:cNvPicPr>
          <p:nvPr/>
        </p:nvPicPr>
        <p:blipFill>
          <a:blip r:embed="rId7"/>
          <a:stretch>
            <a:fillRect/>
          </a:stretch>
        </p:blipFill>
        <p:spPr>
          <a:xfrm>
            <a:off x="5867400" y="3149798"/>
            <a:ext cx="457200" cy="457200"/>
          </a:xfrm>
          <a:prstGeom prst="rect">
            <a:avLst/>
          </a:prstGeom>
        </p:spPr>
      </p:pic>
      <p:pic>
        <p:nvPicPr>
          <p:cNvPr id="16" name="Picture 15" descr="image.png"/>
          <p:cNvPicPr>
            <a:picLocks noChangeAspect="1"/>
          </p:cNvPicPr>
          <p:nvPr/>
        </p:nvPicPr>
        <p:blipFill>
          <a:blip r:embed="rId8"/>
          <a:stretch>
            <a:fillRect/>
          </a:stretch>
        </p:blipFill>
        <p:spPr>
          <a:xfrm>
            <a:off x="9645699" y="3149798"/>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F1FBC-5612-4089-5F46-BEC1E4D6CE92}"/>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580E210B-4665-20FE-7BC9-BF45EC1B79E2}"/>
              </a:ext>
            </a:extLst>
          </p:cNvPr>
          <p:cNvPicPr>
            <a:picLocks noChangeAspect="1"/>
          </p:cNvPicPr>
          <p:nvPr/>
        </p:nvPicPr>
        <p:blipFill>
          <a:blip r:embed="rId2"/>
          <a:stretch>
            <a:fillRect/>
          </a:stretch>
        </p:blipFill>
        <p:spPr>
          <a:xfrm>
            <a:off x="0" y="0"/>
            <a:ext cx="12192000" cy="6858000"/>
          </a:xfrm>
          <a:prstGeom prst="rect">
            <a:avLst/>
          </a:prstGeom>
        </p:spPr>
      </p:pic>
      <p:sp>
        <p:nvSpPr>
          <p:cNvPr id="18" name="Metin kutusu 17">
            <a:extLst>
              <a:ext uri="{FF2B5EF4-FFF2-40B4-BE49-F238E27FC236}">
                <a16:creationId xmlns:a16="http://schemas.microsoft.com/office/drawing/2014/main" id="{4E7E1E63-3EFF-5684-C305-22D1DE58986E}"/>
              </a:ext>
            </a:extLst>
          </p:cNvPr>
          <p:cNvSpPr txBox="1"/>
          <p:nvPr/>
        </p:nvSpPr>
        <p:spPr>
          <a:xfrm>
            <a:off x="370115" y="272143"/>
            <a:ext cx="11451771" cy="6313713"/>
          </a:xfrm>
          <a:prstGeom prst="rect">
            <a:avLst/>
          </a:prstGeom>
          <a:noFill/>
        </p:spPr>
        <p:txBody>
          <a:bodyPr wrap="square" rtlCol="0">
            <a:spAutoFit/>
          </a:bodyPr>
          <a:lstStyle/>
          <a:p>
            <a:endParaRPr lang="tr-TR" dirty="0"/>
          </a:p>
        </p:txBody>
      </p:sp>
      <p:sp>
        <p:nvSpPr>
          <p:cNvPr id="20" name="Metin kutusu 19">
            <a:extLst>
              <a:ext uri="{FF2B5EF4-FFF2-40B4-BE49-F238E27FC236}">
                <a16:creationId xmlns:a16="http://schemas.microsoft.com/office/drawing/2014/main" id="{B4087A67-43C6-7CCB-7374-46F38AEE35A0}"/>
              </a:ext>
            </a:extLst>
          </p:cNvPr>
          <p:cNvSpPr txBox="1"/>
          <p:nvPr/>
        </p:nvSpPr>
        <p:spPr>
          <a:xfrm>
            <a:off x="633878" y="623097"/>
            <a:ext cx="10667999" cy="4247317"/>
          </a:xfrm>
          <a:prstGeom prst="rect">
            <a:avLst/>
          </a:prstGeom>
          <a:noFill/>
        </p:spPr>
        <p:txBody>
          <a:bodyPr wrap="square">
            <a:spAutoFit/>
          </a:bodyPr>
          <a:lstStyle/>
          <a:p>
            <a:r>
              <a:rPr lang="tr-TR" dirty="0">
                <a:solidFill>
                  <a:schemeClr val="bg1"/>
                </a:solidFill>
                <a:latin typeface="Inter"/>
              </a:rPr>
              <a:t>Uygulamamızın adı </a:t>
            </a:r>
            <a:r>
              <a:rPr lang="tr-TR" b="1" dirty="0">
                <a:solidFill>
                  <a:schemeClr val="bg1"/>
                </a:solidFill>
                <a:latin typeface="Inter"/>
              </a:rPr>
              <a:t>Sözüm Söz</a:t>
            </a:r>
            <a:r>
              <a:rPr lang="tr-TR" dirty="0">
                <a:solidFill>
                  <a:schemeClr val="bg1"/>
                </a:solidFill>
                <a:latin typeface="Inter"/>
              </a:rPr>
              <a:t>. Anadolu’da söz vermek kutsaldır ve herkesin sözüne sadık kalması beklenir. Biz de bu kültürel mirasımızdan yola çıkarak uygulamamıza "Sözüm Söz" adını verdik. Uygulamamız, bu değeri dijital çağa taşıyarak kullanıcının kendine bir söz vermesini ve bu sözü tutmasını temsil ediyor. Psikolojik bir etki yaratması amacıyla, uygulama ikonumuzu özenle tasarladık: Sözü tutmayı ve onaylamayı temsil eden bir </a:t>
            </a:r>
            <a:r>
              <a:rPr lang="tr-TR" b="1" dirty="0">
                <a:solidFill>
                  <a:schemeClr val="bg1"/>
                </a:solidFill>
                <a:latin typeface="Inter"/>
              </a:rPr>
              <a:t>tik işareti</a:t>
            </a:r>
            <a:r>
              <a:rPr lang="tr-TR" dirty="0">
                <a:solidFill>
                  <a:schemeClr val="bg1"/>
                </a:solidFill>
                <a:latin typeface="Inter"/>
              </a:rPr>
              <a:t>, kullanıcının kendini teknoloji bağımlılığından korumasını simgeleyen bir </a:t>
            </a:r>
            <a:r>
              <a:rPr lang="tr-TR" b="1" dirty="0">
                <a:solidFill>
                  <a:schemeClr val="bg1"/>
                </a:solidFill>
                <a:latin typeface="Inter"/>
              </a:rPr>
              <a:t>kalkan</a:t>
            </a:r>
            <a:r>
              <a:rPr lang="tr-TR" dirty="0">
                <a:solidFill>
                  <a:schemeClr val="bg1"/>
                </a:solidFill>
                <a:latin typeface="Inter"/>
              </a:rPr>
              <a:t> ve başarıyı ifade eden bir </a:t>
            </a:r>
            <a:r>
              <a:rPr lang="tr-TR" b="1" dirty="0">
                <a:solidFill>
                  <a:schemeClr val="bg1"/>
                </a:solidFill>
                <a:latin typeface="Inter"/>
              </a:rPr>
              <a:t>parıltı</a:t>
            </a:r>
            <a:r>
              <a:rPr lang="tr-TR" dirty="0">
                <a:solidFill>
                  <a:schemeClr val="bg1"/>
                </a:solidFill>
                <a:latin typeface="Inter"/>
              </a:rPr>
              <a:t> kullandık. Ayrıca, Yeşilay’ı temsil etmesi için </a:t>
            </a:r>
            <a:r>
              <a:rPr lang="tr-TR" b="1" dirty="0">
                <a:solidFill>
                  <a:schemeClr val="bg1"/>
                </a:solidFill>
                <a:latin typeface="Inter"/>
              </a:rPr>
              <a:t>yeşil renk</a:t>
            </a:r>
            <a:r>
              <a:rPr lang="tr-TR" dirty="0">
                <a:solidFill>
                  <a:schemeClr val="bg1"/>
                </a:solidFill>
                <a:latin typeface="Inter"/>
              </a:rPr>
              <a:t> tercih ettik. Bu sayede ikonumuz, kullanıcıya verdiği sözün önemini psikolojik düzeyde sürekli hatırlatıyor.</a:t>
            </a:r>
          </a:p>
          <a:p>
            <a:endParaRPr lang="tr-TR" dirty="0">
              <a:solidFill>
                <a:schemeClr val="bg1"/>
              </a:solidFill>
              <a:latin typeface="Inter"/>
            </a:endParaRPr>
          </a:p>
          <a:p>
            <a:r>
              <a:rPr lang="tr-TR" dirty="0">
                <a:solidFill>
                  <a:schemeClr val="bg1"/>
                </a:solidFill>
                <a:latin typeface="Inter"/>
              </a:rPr>
              <a:t>Teknoloji artık gelişen dünyanın ayrılmaz bir parçası ve günlük hayatımızın vazgeçilmezi. Bu çağda, teknoloji bağımlılığını yasaklarla veya her şeyi kısıtlayarak çözemeyiz. Kısıtlamalar sadece direnç oluşturur ve psikolojik olarak insanları her zaman ulaşamadığını elde etmeye iter. Asıl mesele, kaybettiğimiz kontrol hissimiz ve kazanmamız gereken farkındalıktır. Eğer bireylerde bu farkındalığı yaratamaz ve kişisel kontrol hissini güçlendiremezsek, sürekli yeni yasaklar bulmak ve insanları kısıtlamaya çalışmak zorunda kalırız.</a:t>
            </a:r>
          </a:p>
          <a:p>
            <a:endParaRPr lang="tr-TR" dirty="0">
              <a:solidFill>
                <a:schemeClr val="bg1"/>
              </a:solidFill>
              <a:latin typeface="Inter"/>
            </a:endParaRPr>
          </a:p>
          <a:p>
            <a:endParaRPr lang="tr-TR" dirty="0">
              <a:solidFill>
                <a:schemeClr val="bg1"/>
              </a:solidFill>
              <a:latin typeface="Inter"/>
            </a:endParaRPr>
          </a:p>
        </p:txBody>
      </p:sp>
      <p:pic>
        <p:nvPicPr>
          <p:cNvPr id="4" name="Resim 3">
            <a:extLst>
              <a:ext uri="{FF2B5EF4-FFF2-40B4-BE49-F238E27FC236}">
                <a16:creationId xmlns:a16="http://schemas.microsoft.com/office/drawing/2014/main" id="{1241732A-7FB0-6E81-36F5-9D92DABCFB2C}"/>
              </a:ext>
            </a:extLst>
          </p:cNvPr>
          <p:cNvPicPr>
            <a:picLocks noChangeAspect="1"/>
          </p:cNvPicPr>
          <p:nvPr/>
        </p:nvPicPr>
        <p:blipFill>
          <a:blip r:embed="rId3"/>
          <a:stretch>
            <a:fillRect/>
          </a:stretch>
        </p:blipFill>
        <p:spPr>
          <a:xfrm>
            <a:off x="4903470" y="4606589"/>
            <a:ext cx="1381260" cy="1628314"/>
          </a:xfrm>
          <a:prstGeom prst="rect">
            <a:avLst/>
          </a:prstGeom>
        </p:spPr>
      </p:pic>
    </p:spTree>
    <p:extLst>
      <p:ext uri="{BB962C8B-B14F-4D97-AF65-F5344CB8AC3E}">
        <p14:creationId xmlns:p14="http://schemas.microsoft.com/office/powerpoint/2010/main" val="9472025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A2A1B-70C4-3FE7-41E4-BE72F0385F2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1E665A17-CA36-0224-4DE5-A8C4CD0CF346}"/>
              </a:ext>
            </a:extLst>
          </p:cNvPr>
          <p:cNvPicPr>
            <a:picLocks noChangeAspect="1"/>
          </p:cNvPicPr>
          <p:nvPr/>
        </p:nvPicPr>
        <p:blipFill>
          <a:blip r:embed="rId2"/>
          <a:stretch>
            <a:fillRect/>
          </a:stretch>
        </p:blipFill>
        <p:spPr>
          <a:xfrm>
            <a:off x="0" y="0"/>
            <a:ext cx="12192000" cy="6858000"/>
          </a:xfrm>
          <a:prstGeom prst="rect">
            <a:avLst/>
          </a:prstGeom>
        </p:spPr>
      </p:pic>
      <p:sp>
        <p:nvSpPr>
          <p:cNvPr id="18" name="Metin kutusu 17">
            <a:extLst>
              <a:ext uri="{FF2B5EF4-FFF2-40B4-BE49-F238E27FC236}">
                <a16:creationId xmlns:a16="http://schemas.microsoft.com/office/drawing/2014/main" id="{F6281F33-2BF9-405B-14DE-E9BBF59C7E66}"/>
              </a:ext>
            </a:extLst>
          </p:cNvPr>
          <p:cNvSpPr txBox="1"/>
          <p:nvPr/>
        </p:nvSpPr>
        <p:spPr>
          <a:xfrm>
            <a:off x="370114" y="0"/>
            <a:ext cx="11451771" cy="6313713"/>
          </a:xfrm>
          <a:prstGeom prst="rect">
            <a:avLst/>
          </a:prstGeom>
          <a:noFill/>
        </p:spPr>
        <p:txBody>
          <a:bodyPr wrap="square" rtlCol="0">
            <a:spAutoFit/>
          </a:bodyPr>
          <a:lstStyle/>
          <a:p>
            <a:endParaRPr lang="tr-TR" dirty="0"/>
          </a:p>
        </p:txBody>
      </p:sp>
      <p:sp>
        <p:nvSpPr>
          <p:cNvPr id="20" name="Metin kutusu 19">
            <a:extLst>
              <a:ext uri="{FF2B5EF4-FFF2-40B4-BE49-F238E27FC236}">
                <a16:creationId xmlns:a16="http://schemas.microsoft.com/office/drawing/2014/main" id="{02B0E56C-D815-40B9-F05D-E61652DA22C9}"/>
              </a:ext>
            </a:extLst>
          </p:cNvPr>
          <p:cNvSpPr txBox="1"/>
          <p:nvPr/>
        </p:nvSpPr>
        <p:spPr>
          <a:xfrm>
            <a:off x="706340" y="1184774"/>
            <a:ext cx="10667999" cy="4247317"/>
          </a:xfrm>
          <a:prstGeom prst="rect">
            <a:avLst/>
          </a:prstGeom>
          <a:noFill/>
        </p:spPr>
        <p:txBody>
          <a:bodyPr wrap="square">
            <a:spAutoFit/>
          </a:bodyPr>
          <a:lstStyle/>
          <a:p>
            <a:endParaRPr lang="tr-TR" dirty="0">
              <a:solidFill>
                <a:schemeClr val="bg1"/>
              </a:solidFill>
              <a:latin typeface="Inter"/>
            </a:endParaRPr>
          </a:p>
          <a:p>
            <a:r>
              <a:rPr lang="tr-TR" dirty="0">
                <a:solidFill>
                  <a:schemeClr val="bg1"/>
                </a:solidFill>
                <a:latin typeface="Inter"/>
              </a:rPr>
              <a:t>İşte "Sözüm Söz" uygulaması, bu duruma kalıcı bir çözüm sunmak için ortaya çıktı. Uygulamamız dijital kullanımı suçlamak yerine, kullanıcıya kendi davranışını nesnel bir şekilde görme fırsatı verir. Doğru alışkanlıkları teşvik edip ödüllendirerek, kişinin farkındalık kazanmasına ve sağlıklı dijital alışkanlıklar edinip bunları kalıcı hale getirmesine yardımcı olur. Projemizde Yeşilay vb. kuruluşlar ile anlaşma yapmak ve onlar için geliştirmeyi hedefliyoruz.</a:t>
            </a:r>
          </a:p>
          <a:p>
            <a:endParaRPr lang="tr-TR" dirty="0">
              <a:solidFill>
                <a:schemeClr val="bg1"/>
              </a:solidFill>
              <a:latin typeface="Inter"/>
            </a:endParaRPr>
          </a:p>
          <a:p>
            <a:r>
              <a:rPr lang="tr-TR" b="1" dirty="0">
                <a:solidFill>
                  <a:schemeClr val="bg1"/>
                </a:solidFill>
                <a:latin typeface="Inter"/>
              </a:rPr>
              <a:t>Uygulamanın temel işleyiş amacı şu şekildedir: </a:t>
            </a:r>
            <a:r>
              <a:rPr lang="tr-TR" dirty="0">
                <a:solidFill>
                  <a:schemeClr val="bg1"/>
                </a:solidFill>
                <a:latin typeface="Inter"/>
              </a:rPr>
              <a:t>Kullanıcı, herhangi bir uygulamaya girmeden önce orada "kaç dakika kalacağına dair" kendine bir söz verir. Sözünü tuttukça puan kazanır, aştığında ise puan kaybeder. Düzenli tutulan sözler bir "başarı serisi" oluşturur ve bu seriler kazanılan puanları çeşitli bonuslarla artırır. Kullanıcılar, biriktirdikleri bu puanları kullanarak ödül kataloğundan diledikleri ürünleri alabilirler. Ayrıca, bir ay boyunca verdiği tüm sözleri eksiksiz tutan kullanıcılar, her ay düzenlenen ve büyük ödüllerin verileceği özel çekilişe katılma hakkı kazanırlar.</a:t>
            </a:r>
          </a:p>
          <a:p>
            <a:endParaRPr lang="tr-TR" dirty="0">
              <a:solidFill>
                <a:schemeClr val="bg1"/>
              </a:solidFill>
              <a:latin typeface="Inter"/>
            </a:endParaRPr>
          </a:p>
          <a:p>
            <a:r>
              <a:rPr lang="tr-TR" b="1" dirty="0">
                <a:solidFill>
                  <a:schemeClr val="bg1"/>
                </a:solidFill>
                <a:latin typeface="Inter"/>
              </a:rPr>
              <a:t>Proje, sağlam bir yazılım mimarisi üzerine tasarlanmış ve bu mimariye sadık kalınarak başarıyla geliştirilmiştir.</a:t>
            </a:r>
          </a:p>
          <a:p>
            <a:endParaRPr lang="tr-TR" dirty="0">
              <a:solidFill>
                <a:schemeClr val="bg1"/>
              </a:solidFill>
              <a:latin typeface="Inter"/>
            </a:endParaRPr>
          </a:p>
        </p:txBody>
      </p:sp>
    </p:spTree>
    <p:extLst>
      <p:ext uri="{BB962C8B-B14F-4D97-AF65-F5344CB8AC3E}">
        <p14:creationId xmlns:p14="http://schemas.microsoft.com/office/powerpoint/2010/main" val="5127821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648842"/>
            <a:ext cx="3492549" cy="3228975"/>
          </a:xfrm>
          <a:prstGeom prst="rect">
            <a:avLst/>
          </a:prstGeom>
        </p:spPr>
      </p:pic>
      <p:pic>
        <p:nvPicPr>
          <p:cNvPr id="4" name="Picture 3" descr="image.png"/>
          <p:cNvPicPr>
            <a:picLocks noChangeAspect="1"/>
          </p:cNvPicPr>
          <p:nvPr/>
        </p:nvPicPr>
        <p:blipFill>
          <a:blip r:embed="rId4"/>
          <a:stretch>
            <a:fillRect/>
          </a:stretch>
        </p:blipFill>
        <p:spPr>
          <a:xfrm>
            <a:off x="4349799" y="2648842"/>
            <a:ext cx="3492549" cy="3228975"/>
          </a:xfrm>
          <a:prstGeom prst="rect">
            <a:avLst/>
          </a:prstGeom>
        </p:spPr>
      </p:pic>
      <p:pic>
        <p:nvPicPr>
          <p:cNvPr id="5" name="Picture 4" descr="image.png"/>
          <p:cNvPicPr>
            <a:picLocks noChangeAspect="1"/>
          </p:cNvPicPr>
          <p:nvPr/>
        </p:nvPicPr>
        <p:blipFill>
          <a:blip r:embed="rId5"/>
          <a:stretch>
            <a:fillRect/>
          </a:stretch>
        </p:blipFill>
        <p:spPr>
          <a:xfrm>
            <a:off x="8128099" y="2648842"/>
            <a:ext cx="3492549" cy="3228975"/>
          </a:xfrm>
          <a:prstGeom prst="rect">
            <a:avLst/>
          </a:prstGeom>
        </p:spPr>
      </p:pic>
      <p:sp>
        <p:nvSpPr>
          <p:cNvPr id="6" name="TextBox 5"/>
          <p:cNvSpPr txBox="1"/>
          <p:nvPr/>
        </p:nvSpPr>
        <p:spPr>
          <a:xfrm>
            <a:off x="571500" y="571500"/>
            <a:ext cx="11601450" cy="1446550"/>
          </a:xfrm>
          <a:prstGeom prst="rect">
            <a:avLst/>
          </a:prstGeom>
          <a:noFill/>
        </p:spPr>
        <p:txBody>
          <a:bodyPr wrap="square" lIns="0" tIns="0" rIns="0" bIns="0" anchor="t">
            <a:spAutoFit/>
          </a:bodyPr>
          <a:lstStyle/>
          <a:p>
            <a:r>
              <a:rPr lang="tr-TR" sz="3200" dirty="0">
                <a:solidFill>
                  <a:srgbClr val="BAE6FD"/>
                </a:solidFill>
                <a:latin typeface="Inter Medium"/>
              </a:rPr>
              <a:t>Bu prototipi gerçek dünyada geliştirilebilecek bir başlangıç olarak görüyoruz.</a:t>
            </a:r>
          </a:p>
          <a:p>
            <a:pPr algn="l"/>
            <a:endParaRPr sz="3000" b="1" i="0" u="none" dirty="0">
              <a:solidFill>
                <a:srgbClr val="38BDF8"/>
              </a:solidFill>
              <a:latin typeface="Poppins"/>
            </a:endParaRPr>
          </a:p>
        </p:txBody>
      </p:sp>
      <p:sp>
        <p:nvSpPr>
          <p:cNvPr id="8" name="TextBox 7"/>
          <p:cNvSpPr txBox="1"/>
          <p:nvPr/>
        </p:nvSpPr>
        <p:spPr>
          <a:xfrm>
            <a:off x="967531" y="3887092"/>
            <a:ext cx="2700337" cy="400050"/>
          </a:xfrm>
          <a:prstGeom prst="rect">
            <a:avLst/>
          </a:prstGeom>
          <a:noFill/>
        </p:spPr>
        <p:txBody>
          <a:bodyPr wrap="square" lIns="0" tIns="0" rIns="0" bIns="0" anchor="t">
            <a:spAutoFit/>
          </a:bodyPr>
          <a:lstStyle/>
          <a:p>
            <a:pPr algn="ctr"/>
            <a:r>
              <a:rPr sz="2100" b="1" i="0" u="none" dirty="0" err="1">
                <a:solidFill>
                  <a:srgbClr val="38BDF8"/>
                </a:solidFill>
                <a:latin typeface="Poppins"/>
              </a:rPr>
              <a:t>İçerik</a:t>
            </a:r>
            <a:r>
              <a:rPr sz="2100" b="1" i="0" u="none" dirty="0">
                <a:solidFill>
                  <a:srgbClr val="38BDF8"/>
                </a:solidFill>
                <a:latin typeface="Poppins"/>
              </a:rPr>
              <a:t> ve </a:t>
            </a:r>
            <a:r>
              <a:rPr sz="2100" b="1" i="0" u="none" dirty="0" err="1">
                <a:solidFill>
                  <a:srgbClr val="38BDF8"/>
                </a:solidFill>
                <a:latin typeface="Poppins"/>
              </a:rPr>
              <a:t>Uzmanlık</a:t>
            </a:r>
            <a:endParaRPr sz="2100" b="1" i="0" u="none" dirty="0">
              <a:solidFill>
                <a:srgbClr val="38BDF8"/>
              </a:solidFill>
              <a:latin typeface="Poppins"/>
            </a:endParaRPr>
          </a:p>
        </p:txBody>
      </p:sp>
      <p:sp>
        <p:nvSpPr>
          <p:cNvPr id="9" name="TextBox 8"/>
          <p:cNvSpPr txBox="1"/>
          <p:nvPr/>
        </p:nvSpPr>
        <p:spPr>
          <a:xfrm>
            <a:off x="866775" y="4430017"/>
            <a:ext cx="2901999" cy="914400"/>
          </a:xfrm>
          <a:prstGeom prst="rect">
            <a:avLst/>
          </a:prstGeom>
          <a:noFill/>
        </p:spPr>
        <p:txBody>
          <a:bodyPr wrap="square" lIns="0" tIns="0" rIns="0" bIns="0" anchor="t">
            <a:spAutoFit/>
          </a:bodyPr>
          <a:lstStyle/>
          <a:p>
            <a:pPr algn="ctr">
              <a:lnSpc>
                <a:spcPts val="2400"/>
              </a:lnSpc>
            </a:pPr>
            <a:r>
              <a:rPr sz="1500" b="0" i="0" u="none" dirty="0" err="1">
                <a:solidFill>
                  <a:srgbClr val="F0F9FF"/>
                </a:solidFill>
                <a:latin typeface="Inter"/>
              </a:rPr>
              <a:t>Dijital</a:t>
            </a:r>
            <a:r>
              <a:rPr sz="1500" b="0" i="0" u="none" dirty="0">
                <a:solidFill>
                  <a:srgbClr val="F0F9FF"/>
                </a:solidFill>
                <a:latin typeface="Inter"/>
              </a:rPr>
              <a:t> </a:t>
            </a:r>
            <a:r>
              <a:rPr sz="1500" b="0" i="0" u="none" dirty="0" err="1">
                <a:solidFill>
                  <a:srgbClr val="F0F9FF"/>
                </a:solidFill>
                <a:latin typeface="Inter"/>
              </a:rPr>
              <a:t>bağımlılık</a:t>
            </a:r>
            <a:r>
              <a:rPr sz="1500" b="0" i="0" u="none" dirty="0">
                <a:solidFill>
                  <a:srgbClr val="F0F9FF"/>
                </a:solidFill>
                <a:latin typeface="Inter"/>
              </a:rPr>
              <a:t> </a:t>
            </a:r>
            <a:r>
              <a:rPr sz="1500" b="0" i="0" u="none" dirty="0" err="1">
                <a:solidFill>
                  <a:srgbClr val="F0F9FF"/>
                </a:solidFill>
                <a:latin typeface="Inter"/>
              </a:rPr>
              <a:t>farkındalığı</a:t>
            </a:r>
            <a:r>
              <a:rPr sz="1500" b="0" i="0" u="none" dirty="0">
                <a:solidFill>
                  <a:srgbClr val="F0F9FF"/>
                </a:solidFill>
                <a:latin typeface="Inter"/>
              </a:rPr>
              <a:t> </a:t>
            </a:r>
            <a:r>
              <a:rPr sz="1500" b="0" i="0" u="none" dirty="0" err="1">
                <a:solidFill>
                  <a:srgbClr val="F0F9FF"/>
                </a:solidFill>
                <a:latin typeface="Inter"/>
              </a:rPr>
              <a:t>konusunda</a:t>
            </a:r>
            <a:r>
              <a:rPr sz="1500" b="0" i="0" u="none" dirty="0">
                <a:solidFill>
                  <a:srgbClr val="F0F9FF"/>
                </a:solidFill>
                <a:latin typeface="Inter"/>
              </a:rPr>
              <a:t> </a:t>
            </a:r>
            <a:r>
              <a:rPr sz="1500" b="0" i="0" u="none" dirty="0" err="1">
                <a:solidFill>
                  <a:srgbClr val="F0F9FF"/>
                </a:solidFill>
                <a:latin typeface="Inter"/>
              </a:rPr>
              <a:t>doğrulanmış</a:t>
            </a:r>
            <a:r>
              <a:rPr sz="1500" b="0" i="0" u="none" dirty="0">
                <a:solidFill>
                  <a:srgbClr val="F0F9FF"/>
                </a:solidFill>
                <a:latin typeface="Inter"/>
              </a:rPr>
              <a:t> </a:t>
            </a:r>
            <a:r>
              <a:rPr sz="1500" b="0" i="0" u="none" dirty="0" err="1">
                <a:solidFill>
                  <a:srgbClr val="F0F9FF"/>
                </a:solidFill>
                <a:latin typeface="Inter"/>
              </a:rPr>
              <a:t>içerik</a:t>
            </a:r>
            <a:r>
              <a:rPr sz="1500" b="0" i="0" u="none" dirty="0">
                <a:solidFill>
                  <a:srgbClr val="F0F9FF"/>
                </a:solidFill>
                <a:latin typeface="Inter"/>
              </a:rPr>
              <a:t> ve </a:t>
            </a:r>
            <a:r>
              <a:rPr sz="1500" b="0" i="0" u="none" dirty="0" err="1">
                <a:solidFill>
                  <a:srgbClr val="F0F9FF"/>
                </a:solidFill>
                <a:latin typeface="Inter"/>
              </a:rPr>
              <a:t>uzman</a:t>
            </a:r>
            <a:r>
              <a:rPr sz="1500" b="0" i="0" u="none" dirty="0">
                <a:solidFill>
                  <a:srgbClr val="F0F9FF"/>
                </a:solidFill>
                <a:latin typeface="Inter"/>
              </a:rPr>
              <a:t> </a:t>
            </a:r>
            <a:r>
              <a:rPr sz="1500" b="0" i="0" u="none" dirty="0" err="1">
                <a:solidFill>
                  <a:srgbClr val="F0F9FF"/>
                </a:solidFill>
                <a:latin typeface="Inter"/>
              </a:rPr>
              <a:t>görüşü</a:t>
            </a:r>
            <a:r>
              <a:rPr sz="1500" b="0" i="0" u="none" dirty="0">
                <a:solidFill>
                  <a:srgbClr val="F0F9FF"/>
                </a:solidFill>
                <a:latin typeface="Inter"/>
              </a:rPr>
              <a:t>.</a:t>
            </a:r>
          </a:p>
        </p:txBody>
      </p:sp>
      <p:sp>
        <p:nvSpPr>
          <p:cNvPr id="10" name="TextBox 9"/>
          <p:cNvSpPr txBox="1"/>
          <p:nvPr/>
        </p:nvSpPr>
        <p:spPr>
          <a:xfrm>
            <a:off x="4630816" y="3887092"/>
            <a:ext cx="2930366" cy="400050"/>
          </a:xfrm>
          <a:prstGeom prst="rect">
            <a:avLst/>
          </a:prstGeom>
          <a:noFill/>
        </p:spPr>
        <p:txBody>
          <a:bodyPr wrap="square" lIns="0" tIns="0" rIns="0" bIns="0" anchor="t">
            <a:spAutoFit/>
          </a:bodyPr>
          <a:lstStyle/>
          <a:p>
            <a:pPr algn="ctr"/>
            <a:r>
              <a:rPr sz="2100" b="1" i="0" u="none">
                <a:solidFill>
                  <a:srgbClr val="38BDF8"/>
                </a:solidFill>
                <a:latin typeface="Poppins"/>
              </a:rPr>
              <a:t>Pilot ve Geri Bildirim</a:t>
            </a:r>
          </a:p>
        </p:txBody>
      </p:sp>
      <p:sp>
        <p:nvSpPr>
          <p:cNvPr id="11" name="TextBox 10"/>
          <p:cNvSpPr txBox="1"/>
          <p:nvPr/>
        </p:nvSpPr>
        <p:spPr>
          <a:xfrm>
            <a:off x="4645074" y="4430017"/>
            <a:ext cx="2901999" cy="9144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Hedef kullanıcılarla test, kullanım senaryoları ve geri bildirim.</a:t>
            </a:r>
          </a:p>
        </p:txBody>
      </p:sp>
      <p:sp>
        <p:nvSpPr>
          <p:cNvPr id="12" name="TextBox 11"/>
          <p:cNvSpPr txBox="1"/>
          <p:nvPr/>
        </p:nvSpPr>
        <p:spPr>
          <a:xfrm>
            <a:off x="8829168" y="3887092"/>
            <a:ext cx="2090261" cy="400050"/>
          </a:xfrm>
          <a:prstGeom prst="rect">
            <a:avLst/>
          </a:prstGeom>
          <a:noFill/>
        </p:spPr>
        <p:txBody>
          <a:bodyPr wrap="square" lIns="0" tIns="0" rIns="0" bIns="0" anchor="t">
            <a:spAutoFit/>
          </a:bodyPr>
          <a:lstStyle/>
          <a:p>
            <a:pPr algn="ctr"/>
            <a:r>
              <a:rPr sz="2100" b="1" i="0" u="none">
                <a:solidFill>
                  <a:srgbClr val="38BDF8"/>
                </a:solidFill>
                <a:latin typeface="Poppins"/>
              </a:rPr>
              <a:t>Ödül / İş Birliği</a:t>
            </a:r>
          </a:p>
        </p:txBody>
      </p:sp>
      <p:sp>
        <p:nvSpPr>
          <p:cNvPr id="13" name="TextBox 12"/>
          <p:cNvSpPr txBox="1"/>
          <p:nvPr/>
        </p:nvSpPr>
        <p:spPr>
          <a:xfrm>
            <a:off x="8423374" y="4430017"/>
            <a:ext cx="2901999" cy="9144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Puan sisteminin sağlıklı ve anlamlı teşviklerle ilişkilendirilmesi.</a:t>
            </a:r>
          </a:p>
        </p:txBody>
      </p:sp>
      <p:pic>
        <p:nvPicPr>
          <p:cNvPr id="14" name="Picture 13" descr="image.png"/>
          <p:cNvPicPr>
            <a:picLocks noChangeAspect="1"/>
          </p:cNvPicPr>
          <p:nvPr/>
        </p:nvPicPr>
        <p:blipFill>
          <a:blip r:embed="rId6"/>
          <a:stretch>
            <a:fillRect/>
          </a:stretch>
        </p:blipFill>
        <p:spPr>
          <a:xfrm>
            <a:off x="2117675" y="3134617"/>
            <a:ext cx="400050" cy="457200"/>
          </a:xfrm>
          <a:prstGeom prst="rect">
            <a:avLst/>
          </a:prstGeom>
        </p:spPr>
      </p:pic>
      <p:pic>
        <p:nvPicPr>
          <p:cNvPr id="15" name="Picture 14" descr="image.png"/>
          <p:cNvPicPr>
            <a:picLocks noChangeAspect="1"/>
          </p:cNvPicPr>
          <p:nvPr/>
        </p:nvPicPr>
        <p:blipFill>
          <a:blip r:embed="rId7"/>
          <a:stretch>
            <a:fillRect/>
          </a:stretch>
        </p:blipFill>
        <p:spPr>
          <a:xfrm>
            <a:off x="5810250" y="3134617"/>
            <a:ext cx="571500" cy="457200"/>
          </a:xfrm>
          <a:prstGeom prst="rect">
            <a:avLst/>
          </a:prstGeom>
        </p:spPr>
      </p:pic>
      <p:pic>
        <p:nvPicPr>
          <p:cNvPr id="16" name="Picture 15" descr="image.png"/>
          <p:cNvPicPr>
            <a:picLocks noChangeAspect="1"/>
          </p:cNvPicPr>
          <p:nvPr/>
        </p:nvPicPr>
        <p:blipFill>
          <a:blip r:embed="rId8"/>
          <a:stretch>
            <a:fillRect/>
          </a:stretch>
        </p:blipFill>
        <p:spPr>
          <a:xfrm>
            <a:off x="9588549" y="3134617"/>
            <a:ext cx="571500" cy="457200"/>
          </a:xfrm>
          <a:prstGeom prst="rect">
            <a:avLst/>
          </a:prstGeom>
        </p:spPr>
      </p:pic>
    </p:spTree>
    <p:extLst>
      <p:ext uri="{BB962C8B-B14F-4D97-AF65-F5344CB8AC3E}">
        <p14:creationId xmlns:p14="http://schemas.microsoft.com/office/powerpoint/2010/main" val="30651217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4C5D-BB92-8723-FCCC-B4A2D023EEA2}"/>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A37413A4-159C-029B-5391-F19CA22F3A40}"/>
              </a:ext>
            </a:extLst>
          </p:cNvPr>
          <p:cNvPicPr>
            <a:picLocks noChangeAspect="1"/>
          </p:cNvPicPr>
          <p:nvPr/>
        </p:nvPicPr>
        <p:blipFill>
          <a:blip r:embed="rId2"/>
          <a:stretch>
            <a:fillRect/>
          </a:stretch>
        </p:blipFill>
        <p:spPr>
          <a:xfrm>
            <a:off x="0" y="0"/>
            <a:ext cx="12192000" cy="6858000"/>
          </a:xfrm>
          <a:prstGeom prst="rect">
            <a:avLst/>
          </a:prstGeom>
        </p:spPr>
      </p:pic>
      <p:pic>
        <p:nvPicPr>
          <p:cNvPr id="18" name="Resim 17">
            <a:extLst>
              <a:ext uri="{FF2B5EF4-FFF2-40B4-BE49-F238E27FC236}">
                <a16:creationId xmlns:a16="http://schemas.microsoft.com/office/drawing/2014/main" id="{29FDB8B3-BE2C-125B-BFD2-DB95F3403124}"/>
              </a:ext>
            </a:extLst>
          </p:cNvPr>
          <p:cNvPicPr>
            <a:picLocks noChangeAspect="1"/>
          </p:cNvPicPr>
          <p:nvPr/>
        </p:nvPicPr>
        <p:blipFill>
          <a:blip r:embed="rId3"/>
          <a:stretch>
            <a:fillRect/>
          </a:stretch>
        </p:blipFill>
        <p:spPr>
          <a:xfrm>
            <a:off x="1479040" y="401571"/>
            <a:ext cx="8913315" cy="6054858"/>
          </a:xfrm>
          <a:prstGeom prst="rect">
            <a:avLst/>
          </a:prstGeom>
        </p:spPr>
      </p:pic>
    </p:spTree>
    <p:extLst>
      <p:ext uri="{BB962C8B-B14F-4D97-AF65-F5344CB8AC3E}">
        <p14:creationId xmlns:p14="http://schemas.microsoft.com/office/powerpoint/2010/main" val="117907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571500" y="-6794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Uygulama Akışı - Adım Adım</a:t>
            </a:r>
          </a:p>
        </p:txBody>
      </p:sp>
      <p:sp>
        <p:nvSpPr>
          <p:cNvPr id="6" name="TextBox 5"/>
          <p:cNvSpPr txBox="1"/>
          <p:nvPr/>
        </p:nvSpPr>
        <p:spPr>
          <a:xfrm>
            <a:off x="1047750" y="425499"/>
            <a:ext cx="4810125"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Hoş Geldin:</a:t>
            </a:r>
            <a:r>
              <a:rPr sz="1500" b="0" i="0" u="none">
                <a:solidFill>
                  <a:srgbClr val="F0F9FF"/>
                </a:solidFill>
                <a:latin typeface="Inter"/>
              </a:rPr>
              <a:t> Uygulama tanıtımı ve başlangıç.</a:t>
            </a:r>
          </a:p>
        </p:txBody>
      </p:sp>
      <p:sp>
        <p:nvSpPr>
          <p:cNvPr id="7" name="TextBox 6"/>
          <p:cNvSpPr txBox="1"/>
          <p:nvPr/>
        </p:nvSpPr>
        <p:spPr>
          <a:xfrm>
            <a:off x="1047750" y="920799"/>
            <a:ext cx="4810125"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Söz Ver:</a:t>
            </a:r>
            <a:r>
              <a:rPr sz="1500" b="0" i="0" u="none">
                <a:solidFill>
                  <a:srgbClr val="F0F9FF"/>
                </a:solidFill>
                <a:latin typeface="Inter"/>
              </a:rPr>
              <a:t> Uygulama seç + süre belirle + onayla.</a:t>
            </a:r>
          </a:p>
        </p:txBody>
      </p:sp>
      <p:sp>
        <p:nvSpPr>
          <p:cNvPr id="8" name="TextBox 7"/>
          <p:cNvSpPr txBox="1"/>
          <p:nvPr/>
        </p:nvSpPr>
        <p:spPr>
          <a:xfrm>
            <a:off x="1047750" y="1416099"/>
            <a:ext cx="4810125"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Takip Et:</a:t>
            </a:r>
            <a:r>
              <a:rPr sz="1500" b="0" i="0" u="none">
                <a:solidFill>
                  <a:srgbClr val="F0F9FF"/>
                </a:solidFill>
                <a:latin typeface="Inter"/>
              </a:rPr>
              <a:t> Oturum süresi, puan, seri takibi.</a:t>
            </a:r>
          </a:p>
        </p:txBody>
      </p:sp>
      <p:sp>
        <p:nvSpPr>
          <p:cNvPr id="9" name="TextBox 8"/>
          <p:cNvSpPr txBox="1"/>
          <p:nvPr/>
        </p:nvSpPr>
        <p:spPr>
          <a:xfrm>
            <a:off x="1047750" y="1911399"/>
            <a:ext cx="4810125" cy="304800"/>
          </a:xfrm>
          <a:prstGeom prst="rect">
            <a:avLst/>
          </a:prstGeom>
          <a:noFill/>
        </p:spPr>
        <p:txBody>
          <a:bodyPr wrap="square" lIns="0" tIns="0" rIns="0" bIns="0" anchor="t">
            <a:spAutoFit/>
          </a:bodyPr>
          <a:lstStyle/>
          <a:p>
            <a:pPr algn="l">
              <a:lnSpc>
                <a:spcPts val="2400"/>
              </a:lnSpc>
            </a:pPr>
            <a:r>
              <a:rPr sz="1500" b="1" i="0" u="none" dirty="0" err="1">
                <a:solidFill>
                  <a:srgbClr val="F0F9FF"/>
                </a:solidFill>
                <a:latin typeface="Inter"/>
              </a:rPr>
              <a:t>Yansıma</a:t>
            </a:r>
            <a:r>
              <a:rPr sz="1500" b="1" i="0" u="none" dirty="0">
                <a:solidFill>
                  <a:srgbClr val="F0F9FF"/>
                </a:solidFill>
                <a:latin typeface="Inter"/>
              </a:rPr>
              <a:t> / Sohbet:</a:t>
            </a:r>
            <a:r>
              <a:rPr sz="1500" b="0" i="0" u="none" dirty="0">
                <a:solidFill>
                  <a:srgbClr val="F0F9FF"/>
                </a:solidFill>
                <a:latin typeface="Inter"/>
              </a:rPr>
              <a:t> YZ </a:t>
            </a:r>
            <a:r>
              <a:rPr sz="1500" b="0" i="0" u="none" dirty="0" err="1">
                <a:solidFill>
                  <a:srgbClr val="F0F9FF"/>
                </a:solidFill>
                <a:latin typeface="Inter"/>
              </a:rPr>
              <a:t>destekli</a:t>
            </a:r>
            <a:r>
              <a:rPr sz="1500" b="0" i="0" u="none" dirty="0">
                <a:solidFill>
                  <a:srgbClr val="F0F9FF"/>
                </a:solidFill>
                <a:latin typeface="Inter"/>
              </a:rPr>
              <a:t> </a:t>
            </a:r>
            <a:r>
              <a:rPr sz="1500" b="0" i="0" u="none" dirty="0" err="1">
                <a:solidFill>
                  <a:srgbClr val="F0F9FF"/>
                </a:solidFill>
                <a:latin typeface="Inter"/>
              </a:rPr>
              <a:t>farkındalık</a:t>
            </a:r>
            <a:r>
              <a:rPr sz="1500" b="0" i="0" u="none" dirty="0">
                <a:solidFill>
                  <a:srgbClr val="F0F9FF"/>
                </a:solidFill>
                <a:latin typeface="Inter"/>
              </a:rPr>
              <a:t> ve </a:t>
            </a:r>
            <a:r>
              <a:rPr sz="1500" b="0" i="0" u="none" dirty="0" err="1">
                <a:solidFill>
                  <a:srgbClr val="F0F9FF"/>
                </a:solidFill>
                <a:latin typeface="Inter"/>
              </a:rPr>
              <a:t>öneri</a:t>
            </a:r>
            <a:r>
              <a:rPr sz="1500" b="0" i="0" u="none" dirty="0">
                <a:solidFill>
                  <a:srgbClr val="F0F9FF"/>
                </a:solidFill>
                <a:latin typeface="Inter"/>
              </a:rPr>
              <a:t>.</a:t>
            </a:r>
          </a:p>
        </p:txBody>
      </p:sp>
      <p:sp>
        <p:nvSpPr>
          <p:cNvPr id="10" name="TextBox 9"/>
          <p:cNvSpPr txBox="1"/>
          <p:nvPr/>
        </p:nvSpPr>
        <p:spPr>
          <a:xfrm>
            <a:off x="1047750" y="2406699"/>
            <a:ext cx="4810125" cy="304800"/>
          </a:xfrm>
          <a:prstGeom prst="rect">
            <a:avLst/>
          </a:prstGeom>
          <a:noFill/>
        </p:spPr>
        <p:txBody>
          <a:bodyPr wrap="square" lIns="0" tIns="0" rIns="0" bIns="0" anchor="t">
            <a:spAutoFit/>
          </a:bodyPr>
          <a:lstStyle/>
          <a:p>
            <a:pPr algn="l">
              <a:lnSpc>
                <a:spcPts val="2400"/>
              </a:lnSpc>
            </a:pPr>
            <a:r>
              <a:rPr sz="1500" b="1" i="0" u="none" dirty="0" err="1">
                <a:solidFill>
                  <a:srgbClr val="F0F9FF"/>
                </a:solidFill>
                <a:latin typeface="Inter"/>
              </a:rPr>
              <a:t>Ödül</a:t>
            </a:r>
            <a:r>
              <a:rPr sz="1500" b="1" i="0" u="none" dirty="0">
                <a:solidFill>
                  <a:srgbClr val="F0F9FF"/>
                </a:solidFill>
                <a:latin typeface="Inter"/>
              </a:rPr>
              <a:t> </a:t>
            </a:r>
            <a:r>
              <a:rPr sz="1500" b="1" i="0" u="none" dirty="0" err="1">
                <a:solidFill>
                  <a:srgbClr val="F0F9FF"/>
                </a:solidFill>
                <a:latin typeface="Inter"/>
              </a:rPr>
              <a:t>Kataloğu</a:t>
            </a:r>
            <a:r>
              <a:rPr sz="1500" b="1" i="0" u="none" dirty="0">
                <a:solidFill>
                  <a:srgbClr val="F0F9FF"/>
                </a:solidFill>
                <a:latin typeface="Inter"/>
              </a:rPr>
              <a:t> / </a:t>
            </a:r>
            <a:r>
              <a:rPr sz="1500" b="1" i="0" u="none" dirty="0" err="1">
                <a:solidFill>
                  <a:srgbClr val="F0F9FF"/>
                </a:solidFill>
                <a:latin typeface="Inter"/>
              </a:rPr>
              <a:t>Çekiliş</a:t>
            </a:r>
            <a:r>
              <a:rPr sz="1500" b="1" i="0" u="none" dirty="0">
                <a:solidFill>
                  <a:srgbClr val="F0F9FF"/>
                </a:solidFill>
                <a:latin typeface="Inter"/>
              </a:rPr>
              <a:t>:</a:t>
            </a:r>
            <a:r>
              <a:rPr sz="1500" b="0" i="0" u="none" dirty="0">
                <a:solidFill>
                  <a:srgbClr val="F0F9FF"/>
                </a:solidFill>
                <a:latin typeface="Inter"/>
              </a:rPr>
              <a:t> </a:t>
            </a:r>
            <a:r>
              <a:rPr sz="1500" b="0" i="0" u="none" dirty="0" err="1">
                <a:solidFill>
                  <a:srgbClr val="F0F9FF"/>
                </a:solidFill>
                <a:latin typeface="Inter"/>
              </a:rPr>
              <a:t>Kazanılan</a:t>
            </a:r>
            <a:r>
              <a:rPr sz="1500" b="0" i="0" u="none" dirty="0">
                <a:solidFill>
                  <a:srgbClr val="F0F9FF"/>
                </a:solidFill>
                <a:latin typeface="Inter"/>
              </a:rPr>
              <a:t> </a:t>
            </a:r>
            <a:r>
              <a:rPr sz="1500" b="0" i="0" u="none" dirty="0" err="1">
                <a:solidFill>
                  <a:srgbClr val="F0F9FF"/>
                </a:solidFill>
                <a:latin typeface="Inter"/>
              </a:rPr>
              <a:t>puanlarla</a:t>
            </a:r>
            <a:r>
              <a:rPr sz="1500" b="0" i="0" u="none" dirty="0">
                <a:solidFill>
                  <a:srgbClr val="F0F9FF"/>
                </a:solidFill>
                <a:latin typeface="Inter"/>
              </a:rPr>
              <a:t> </a:t>
            </a:r>
            <a:r>
              <a:rPr sz="1500" b="0" i="0" u="none" dirty="0" err="1">
                <a:solidFill>
                  <a:srgbClr val="F0F9FF"/>
                </a:solidFill>
                <a:latin typeface="Inter"/>
              </a:rPr>
              <a:t>ödüller</a:t>
            </a:r>
            <a:r>
              <a:rPr sz="1500" b="0" i="0" u="none" dirty="0">
                <a:solidFill>
                  <a:srgbClr val="F0F9FF"/>
                </a:solidFill>
                <a:latin typeface="Inter"/>
              </a:rPr>
              <a:t>.</a:t>
            </a:r>
          </a:p>
        </p:txBody>
      </p:sp>
      <p:pic>
        <p:nvPicPr>
          <p:cNvPr id="19" name="Resim 18">
            <a:extLst>
              <a:ext uri="{FF2B5EF4-FFF2-40B4-BE49-F238E27FC236}">
                <a16:creationId xmlns:a16="http://schemas.microsoft.com/office/drawing/2014/main" id="{A71C05EE-9556-0259-0D8F-55C5EDBD8CA5}"/>
              </a:ext>
            </a:extLst>
          </p:cNvPr>
          <p:cNvPicPr>
            <a:picLocks noChangeAspect="1"/>
          </p:cNvPicPr>
          <p:nvPr/>
        </p:nvPicPr>
        <p:blipFill>
          <a:blip r:embed="rId3"/>
          <a:stretch>
            <a:fillRect/>
          </a:stretch>
        </p:blipFill>
        <p:spPr>
          <a:xfrm>
            <a:off x="6835968" y="425499"/>
            <a:ext cx="3935813" cy="2704669"/>
          </a:xfrm>
          <a:prstGeom prst="rect">
            <a:avLst/>
          </a:prstGeom>
        </p:spPr>
      </p:pic>
      <p:pic>
        <p:nvPicPr>
          <p:cNvPr id="21" name="Resim 20">
            <a:extLst>
              <a:ext uri="{FF2B5EF4-FFF2-40B4-BE49-F238E27FC236}">
                <a16:creationId xmlns:a16="http://schemas.microsoft.com/office/drawing/2014/main" id="{6E3A3054-4503-6FEE-CEAE-DB2CDF6EBA22}"/>
              </a:ext>
            </a:extLst>
          </p:cNvPr>
          <p:cNvPicPr>
            <a:picLocks noChangeAspect="1"/>
          </p:cNvPicPr>
          <p:nvPr/>
        </p:nvPicPr>
        <p:blipFill>
          <a:blip r:embed="rId4"/>
          <a:stretch>
            <a:fillRect/>
          </a:stretch>
        </p:blipFill>
        <p:spPr>
          <a:xfrm>
            <a:off x="6936768" y="3754233"/>
            <a:ext cx="3845201" cy="26120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647700" y="319841"/>
            <a:ext cx="11601450" cy="571500"/>
          </a:xfrm>
          <a:prstGeom prst="rect">
            <a:avLst/>
          </a:prstGeom>
          <a:noFill/>
        </p:spPr>
        <p:txBody>
          <a:bodyPr wrap="square" lIns="0" tIns="0" rIns="0" bIns="0" anchor="t">
            <a:spAutoFit/>
          </a:bodyPr>
          <a:lstStyle/>
          <a:p>
            <a:pPr algn="l"/>
            <a:r>
              <a:rPr sz="3000" b="1" i="0" u="none" dirty="0">
                <a:solidFill>
                  <a:srgbClr val="38BDF8"/>
                </a:solidFill>
                <a:latin typeface="Poppins"/>
              </a:rPr>
              <a:t>Ana </a:t>
            </a:r>
            <a:r>
              <a:rPr sz="3000" b="1" i="0" u="none" dirty="0" err="1">
                <a:solidFill>
                  <a:srgbClr val="38BDF8"/>
                </a:solidFill>
                <a:latin typeface="Poppins"/>
              </a:rPr>
              <a:t>Sayfa</a:t>
            </a:r>
            <a:r>
              <a:rPr sz="3000" b="1" i="0" u="none" dirty="0">
                <a:solidFill>
                  <a:srgbClr val="38BDF8"/>
                </a:solidFill>
                <a:latin typeface="Poppins"/>
              </a:rPr>
              <a:t> </a:t>
            </a:r>
            <a:r>
              <a:rPr sz="3000" b="1" i="0" u="none" dirty="0" err="1">
                <a:solidFill>
                  <a:srgbClr val="38BDF8"/>
                </a:solidFill>
                <a:latin typeface="Poppins"/>
              </a:rPr>
              <a:t>ve</a:t>
            </a:r>
            <a:r>
              <a:rPr sz="3000" b="1" i="0" u="none" dirty="0">
                <a:solidFill>
                  <a:srgbClr val="38BDF8"/>
                </a:solidFill>
                <a:latin typeface="Poppins"/>
              </a:rPr>
              <a:t> </a:t>
            </a:r>
            <a:r>
              <a:rPr sz="3000" b="1" i="0" u="none" dirty="0" err="1">
                <a:solidFill>
                  <a:srgbClr val="38BDF8"/>
                </a:solidFill>
                <a:latin typeface="Poppins"/>
              </a:rPr>
              <a:t>Söz</a:t>
            </a:r>
            <a:r>
              <a:rPr sz="3000" b="1" i="0" u="none" dirty="0">
                <a:solidFill>
                  <a:srgbClr val="38BDF8"/>
                </a:solidFill>
                <a:latin typeface="Poppins"/>
              </a:rPr>
              <a:t> Verme</a:t>
            </a:r>
          </a:p>
        </p:txBody>
      </p:sp>
      <p:sp>
        <p:nvSpPr>
          <p:cNvPr id="6" name="TextBox 5"/>
          <p:cNvSpPr txBox="1"/>
          <p:nvPr/>
        </p:nvSpPr>
        <p:spPr>
          <a:xfrm>
            <a:off x="1000125" y="1149399"/>
            <a:ext cx="4857750" cy="609600"/>
          </a:xfrm>
          <a:prstGeom prst="rect">
            <a:avLst/>
          </a:prstGeom>
          <a:noFill/>
        </p:spPr>
        <p:txBody>
          <a:bodyPr wrap="square" lIns="0" tIns="0" rIns="0" bIns="0" anchor="t">
            <a:spAutoFit/>
          </a:bodyPr>
          <a:lstStyle/>
          <a:p>
            <a:pPr algn="l">
              <a:lnSpc>
                <a:spcPts val="2400"/>
              </a:lnSpc>
            </a:pPr>
            <a:r>
              <a:rPr sz="1500" b="0" i="0" u="none" dirty="0">
                <a:solidFill>
                  <a:srgbClr val="F0F9FF"/>
                </a:solidFill>
                <a:latin typeface="Inter"/>
              </a:rPr>
              <a:t>Ana </a:t>
            </a:r>
            <a:r>
              <a:rPr sz="1500" b="0" i="0" u="none" dirty="0" err="1">
                <a:solidFill>
                  <a:srgbClr val="F0F9FF"/>
                </a:solidFill>
                <a:latin typeface="Inter"/>
              </a:rPr>
              <a:t>sayfada</a:t>
            </a:r>
            <a:r>
              <a:rPr sz="1500" b="0" i="0" u="none" dirty="0">
                <a:solidFill>
                  <a:srgbClr val="F0F9FF"/>
                </a:solidFill>
                <a:latin typeface="Inter"/>
              </a:rPr>
              <a:t> </a:t>
            </a:r>
            <a:r>
              <a:rPr sz="1500" b="0" i="0" u="none" dirty="0" err="1">
                <a:solidFill>
                  <a:srgbClr val="F0F9FF"/>
                </a:solidFill>
                <a:latin typeface="Inter"/>
              </a:rPr>
              <a:t>hedefini</a:t>
            </a:r>
            <a:r>
              <a:rPr sz="1500" b="0" i="0" u="none" dirty="0">
                <a:solidFill>
                  <a:srgbClr val="F0F9FF"/>
                </a:solidFill>
                <a:latin typeface="Inter"/>
              </a:rPr>
              <a:t> </a:t>
            </a:r>
            <a:r>
              <a:rPr sz="1500" b="0" i="0" u="none" dirty="0" err="1">
                <a:solidFill>
                  <a:srgbClr val="F0F9FF"/>
                </a:solidFill>
                <a:latin typeface="Inter"/>
              </a:rPr>
              <a:t>seç</a:t>
            </a:r>
            <a:r>
              <a:rPr sz="1500" b="0" i="0" u="none" dirty="0">
                <a:solidFill>
                  <a:srgbClr val="F0F9FF"/>
                </a:solidFill>
                <a:latin typeface="Inter"/>
              </a:rPr>
              <a:t>, </a:t>
            </a:r>
            <a:r>
              <a:rPr sz="1500" b="0" i="0" u="none" dirty="0" err="1">
                <a:solidFill>
                  <a:srgbClr val="F0F9FF"/>
                </a:solidFill>
                <a:latin typeface="Inter"/>
              </a:rPr>
              <a:t>ilerlemeni</a:t>
            </a:r>
            <a:r>
              <a:rPr sz="1500" b="0" i="0" u="none" dirty="0">
                <a:solidFill>
                  <a:srgbClr val="F0F9FF"/>
                </a:solidFill>
                <a:latin typeface="Inter"/>
              </a:rPr>
              <a:t> </a:t>
            </a:r>
            <a:r>
              <a:rPr sz="1500" b="0" i="0" u="none" dirty="0" err="1">
                <a:solidFill>
                  <a:srgbClr val="F0F9FF"/>
                </a:solidFill>
                <a:latin typeface="Inter"/>
              </a:rPr>
              <a:t>gör</a:t>
            </a:r>
            <a:r>
              <a:rPr sz="1500" b="0" i="0" u="none" dirty="0">
                <a:solidFill>
                  <a:srgbClr val="F0F9FF"/>
                </a:solidFill>
                <a:latin typeface="Inter"/>
              </a:rPr>
              <a:t>, </a:t>
            </a:r>
            <a:r>
              <a:rPr sz="1500" b="0" i="0" u="none" dirty="0" err="1">
                <a:solidFill>
                  <a:srgbClr val="F0F9FF"/>
                </a:solidFill>
                <a:latin typeface="Inter"/>
              </a:rPr>
              <a:t>chatbot'a</a:t>
            </a:r>
            <a:r>
              <a:rPr sz="1500" b="0" i="0" u="none" dirty="0">
                <a:solidFill>
                  <a:srgbClr val="F0F9FF"/>
                </a:solidFill>
                <a:latin typeface="Inter"/>
              </a:rPr>
              <a:t> sor.</a:t>
            </a:r>
          </a:p>
        </p:txBody>
      </p:sp>
      <p:sp>
        <p:nvSpPr>
          <p:cNvPr id="7" name="TextBox 6"/>
          <p:cNvSpPr txBox="1"/>
          <p:nvPr/>
        </p:nvSpPr>
        <p:spPr>
          <a:xfrm>
            <a:off x="1000125" y="2025294"/>
            <a:ext cx="4857750" cy="609600"/>
          </a:xfrm>
          <a:prstGeom prst="rect">
            <a:avLst/>
          </a:prstGeom>
          <a:noFill/>
        </p:spPr>
        <p:txBody>
          <a:bodyPr wrap="square" lIns="0" tIns="0" rIns="0" bIns="0" anchor="t">
            <a:spAutoFit/>
          </a:bodyPr>
          <a:lstStyle/>
          <a:p>
            <a:pPr algn="l">
              <a:lnSpc>
                <a:spcPts val="2400"/>
              </a:lnSpc>
            </a:pPr>
            <a:r>
              <a:rPr sz="1500" b="1" i="0" u="none" dirty="0" err="1">
                <a:solidFill>
                  <a:srgbClr val="F0F9FF"/>
                </a:solidFill>
                <a:latin typeface="Inter"/>
              </a:rPr>
              <a:t>Söz</a:t>
            </a:r>
            <a:r>
              <a:rPr sz="1500" b="1" i="0" u="none" dirty="0">
                <a:solidFill>
                  <a:srgbClr val="F0F9FF"/>
                </a:solidFill>
                <a:latin typeface="Inter"/>
              </a:rPr>
              <a:t> </a:t>
            </a:r>
            <a:r>
              <a:rPr sz="1500" b="1" i="0" u="none" dirty="0" err="1">
                <a:solidFill>
                  <a:srgbClr val="F0F9FF"/>
                </a:solidFill>
                <a:latin typeface="Inter"/>
              </a:rPr>
              <a:t>ver</a:t>
            </a:r>
            <a:r>
              <a:rPr sz="1500" b="1" i="0" u="none" dirty="0">
                <a:solidFill>
                  <a:srgbClr val="F0F9FF"/>
                </a:solidFill>
                <a:latin typeface="Inter"/>
              </a:rPr>
              <a:t>:</a:t>
            </a:r>
            <a:r>
              <a:rPr sz="1500" b="0" i="0" u="none" dirty="0">
                <a:solidFill>
                  <a:srgbClr val="F0F9FF"/>
                </a:solidFill>
                <a:latin typeface="Inter"/>
              </a:rPr>
              <a:t> </a:t>
            </a:r>
            <a:r>
              <a:rPr sz="1500" b="0" i="0" u="none" dirty="0" err="1">
                <a:solidFill>
                  <a:srgbClr val="F0F9FF"/>
                </a:solidFill>
                <a:latin typeface="Inter"/>
              </a:rPr>
              <a:t>Uygulama</a:t>
            </a:r>
            <a:r>
              <a:rPr sz="1500" b="0" i="0" u="none" dirty="0">
                <a:solidFill>
                  <a:srgbClr val="F0F9FF"/>
                </a:solidFill>
                <a:latin typeface="Inter"/>
              </a:rPr>
              <a:t> </a:t>
            </a:r>
            <a:r>
              <a:rPr sz="1500" b="0" i="0" u="none" dirty="0" err="1">
                <a:solidFill>
                  <a:srgbClr val="F0F9FF"/>
                </a:solidFill>
                <a:latin typeface="Inter"/>
              </a:rPr>
              <a:t>seç</a:t>
            </a:r>
            <a:r>
              <a:rPr sz="1500" b="0" i="0" u="none" dirty="0">
                <a:solidFill>
                  <a:srgbClr val="F0F9FF"/>
                </a:solidFill>
                <a:latin typeface="Inter"/>
              </a:rPr>
              <a:t> (Instagram), </a:t>
            </a:r>
            <a:r>
              <a:rPr sz="1500" b="0" i="0" u="none" dirty="0" err="1">
                <a:solidFill>
                  <a:srgbClr val="F0F9FF"/>
                </a:solidFill>
                <a:latin typeface="Inter"/>
              </a:rPr>
              <a:t>süre</a:t>
            </a:r>
            <a:r>
              <a:rPr sz="1500" b="0" i="0" u="none" dirty="0">
                <a:solidFill>
                  <a:srgbClr val="F0F9FF"/>
                </a:solidFill>
                <a:latin typeface="Inter"/>
              </a:rPr>
              <a:t> </a:t>
            </a:r>
            <a:r>
              <a:rPr sz="1500" b="0" i="0" u="none" dirty="0" err="1">
                <a:solidFill>
                  <a:srgbClr val="F0F9FF"/>
                </a:solidFill>
                <a:latin typeface="Inter"/>
              </a:rPr>
              <a:t>belirle</a:t>
            </a:r>
            <a:r>
              <a:rPr sz="1500" b="0" i="0" u="none" dirty="0">
                <a:solidFill>
                  <a:srgbClr val="F0F9FF"/>
                </a:solidFill>
                <a:latin typeface="Inter"/>
              </a:rPr>
              <a:t> (6 dk), </a:t>
            </a:r>
            <a:r>
              <a:rPr sz="1500" b="0" i="0" u="none" dirty="0" err="1">
                <a:solidFill>
                  <a:srgbClr val="F0F9FF"/>
                </a:solidFill>
                <a:latin typeface="Inter"/>
              </a:rPr>
              <a:t>onayla</a:t>
            </a:r>
            <a:r>
              <a:rPr sz="1500" b="0" i="0" u="none" dirty="0">
                <a:solidFill>
                  <a:srgbClr val="F0F9FF"/>
                </a:solidFill>
                <a:latin typeface="Inter"/>
              </a:rPr>
              <a:t>.</a:t>
            </a:r>
          </a:p>
        </p:txBody>
      </p:sp>
      <p:sp>
        <p:nvSpPr>
          <p:cNvPr id="8" name="TextBox 7"/>
          <p:cNvSpPr txBox="1"/>
          <p:nvPr/>
        </p:nvSpPr>
        <p:spPr>
          <a:xfrm>
            <a:off x="1000125" y="2882576"/>
            <a:ext cx="4857750" cy="304800"/>
          </a:xfrm>
          <a:prstGeom prst="rect">
            <a:avLst/>
          </a:prstGeom>
          <a:noFill/>
        </p:spPr>
        <p:txBody>
          <a:bodyPr wrap="square" lIns="0" tIns="0" rIns="0" bIns="0" anchor="t">
            <a:spAutoFit/>
          </a:bodyPr>
          <a:lstStyle/>
          <a:p>
            <a:pPr algn="l">
              <a:lnSpc>
                <a:spcPts val="2400"/>
              </a:lnSpc>
            </a:pPr>
            <a:r>
              <a:rPr sz="1500" b="0" i="0" u="none" dirty="0" err="1">
                <a:solidFill>
                  <a:srgbClr val="F0F9FF"/>
                </a:solidFill>
                <a:latin typeface="Inter"/>
              </a:rPr>
              <a:t>Sözünü</a:t>
            </a:r>
            <a:r>
              <a:rPr sz="1500" b="0" i="0" u="none" dirty="0">
                <a:solidFill>
                  <a:srgbClr val="F0F9FF"/>
                </a:solidFill>
                <a:latin typeface="Inter"/>
              </a:rPr>
              <a:t> </a:t>
            </a:r>
            <a:r>
              <a:rPr sz="1500" b="0" i="0" u="none" dirty="0" err="1">
                <a:solidFill>
                  <a:srgbClr val="F0F9FF"/>
                </a:solidFill>
                <a:latin typeface="Inter"/>
              </a:rPr>
              <a:t>tutarsan</a:t>
            </a:r>
            <a:r>
              <a:rPr sz="1500" b="0" i="0" u="none" dirty="0">
                <a:solidFill>
                  <a:srgbClr val="F0F9FF"/>
                </a:solidFill>
                <a:latin typeface="Inter"/>
              </a:rPr>
              <a:t> </a:t>
            </a:r>
            <a:r>
              <a:rPr sz="1500" b="1" i="0" u="none" dirty="0">
                <a:solidFill>
                  <a:srgbClr val="F0F9FF"/>
                </a:solidFill>
                <a:latin typeface="Inter"/>
              </a:rPr>
              <a:t>+3 </a:t>
            </a:r>
            <a:r>
              <a:rPr sz="1500" b="1" i="0" u="none" dirty="0" err="1">
                <a:solidFill>
                  <a:srgbClr val="F0F9FF"/>
                </a:solidFill>
                <a:latin typeface="Inter"/>
              </a:rPr>
              <a:t>puan</a:t>
            </a:r>
            <a:r>
              <a:rPr sz="1500" b="0" i="0" u="none" dirty="0">
                <a:solidFill>
                  <a:srgbClr val="F0F9FF"/>
                </a:solidFill>
                <a:latin typeface="Inter"/>
              </a:rPr>
              <a:t>, </a:t>
            </a:r>
            <a:r>
              <a:rPr sz="1500" b="0" i="0" u="none" dirty="0" err="1">
                <a:solidFill>
                  <a:srgbClr val="F0F9FF"/>
                </a:solidFill>
                <a:latin typeface="Inter"/>
              </a:rPr>
              <a:t>aşarsan</a:t>
            </a:r>
            <a:r>
              <a:rPr sz="1500" b="0" i="0" u="none" dirty="0">
                <a:solidFill>
                  <a:srgbClr val="F0F9FF"/>
                </a:solidFill>
                <a:latin typeface="Inter"/>
              </a:rPr>
              <a:t> </a:t>
            </a:r>
            <a:r>
              <a:rPr sz="1500" b="1" i="0" u="none" dirty="0">
                <a:solidFill>
                  <a:srgbClr val="F0F9FF"/>
                </a:solidFill>
                <a:latin typeface="Inter"/>
              </a:rPr>
              <a:t>-5 </a:t>
            </a:r>
            <a:r>
              <a:rPr sz="1500" b="1" i="0" u="none" dirty="0" err="1">
                <a:solidFill>
                  <a:srgbClr val="F0F9FF"/>
                </a:solidFill>
                <a:latin typeface="Inter"/>
              </a:rPr>
              <a:t>puan</a:t>
            </a:r>
            <a:r>
              <a:rPr sz="1500" b="0" i="0" u="none" dirty="0">
                <a:solidFill>
                  <a:srgbClr val="F0F9FF"/>
                </a:solidFill>
                <a:latin typeface="Inter"/>
              </a:rPr>
              <a:t>.</a:t>
            </a:r>
          </a:p>
        </p:txBody>
      </p:sp>
      <p:pic>
        <p:nvPicPr>
          <p:cNvPr id="11" name="Picture 10" descr="image.png"/>
          <p:cNvPicPr>
            <a:picLocks noChangeAspect="1"/>
          </p:cNvPicPr>
          <p:nvPr/>
        </p:nvPicPr>
        <p:blipFill>
          <a:blip r:embed="rId3"/>
          <a:stretch>
            <a:fillRect/>
          </a:stretch>
        </p:blipFill>
        <p:spPr>
          <a:xfrm>
            <a:off x="647700" y="2932323"/>
            <a:ext cx="200025" cy="247650"/>
          </a:xfrm>
          <a:prstGeom prst="rect">
            <a:avLst/>
          </a:prstGeom>
        </p:spPr>
      </p:pic>
      <p:pic>
        <p:nvPicPr>
          <p:cNvPr id="12" name="Picture 11" descr="image.png"/>
          <p:cNvPicPr>
            <a:picLocks noChangeAspect="1"/>
          </p:cNvPicPr>
          <p:nvPr/>
        </p:nvPicPr>
        <p:blipFill>
          <a:blip r:embed="rId3"/>
          <a:stretch>
            <a:fillRect/>
          </a:stretch>
        </p:blipFill>
        <p:spPr>
          <a:xfrm>
            <a:off x="571500" y="1149399"/>
            <a:ext cx="200025" cy="247650"/>
          </a:xfrm>
          <a:prstGeom prst="rect">
            <a:avLst/>
          </a:prstGeom>
        </p:spPr>
      </p:pic>
      <p:pic>
        <p:nvPicPr>
          <p:cNvPr id="13" name="Picture 12" descr="image.png"/>
          <p:cNvPicPr>
            <a:picLocks noChangeAspect="1"/>
          </p:cNvPicPr>
          <p:nvPr/>
        </p:nvPicPr>
        <p:blipFill>
          <a:blip r:embed="rId3"/>
          <a:stretch>
            <a:fillRect/>
          </a:stretch>
        </p:blipFill>
        <p:spPr>
          <a:xfrm>
            <a:off x="571500" y="1997124"/>
            <a:ext cx="200025" cy="247650"/>
          </a:xfrm>
          <a:prstGeom prst="rect">
            <a:avLst/>
          </a:prstGeom>
        </p:spPr>
      </p:pic>
      <p:pic>
        <p:nvPicPr>
          <p:cNvPr id="15" name="Resim 14">
            <a:extLst>
              <a:ext uri="{FF2B5EF4-FFF2-40B4-BE49-F238E27FC236}">
                <a16:creationId xmlns:a16="http://schemas.microsoft.com/office/drawing/2014/main" id="{F6A479AB-544E-4D77-F822-73669519D08C}"/>
              </a:ext>
            </a:extLst>
          </p:cNvPr>
          <p:cNvPicPr>
            <a:picLocks noChangeAspect="1"/>
          </p:cNvPicPr>
          <p:nvPr/>
        </p:nvPicPr>
        <p:blipFill>
          <a:blip r:embed="rId4"/>
          <a:stretch>
            <a:fillRect/>
          </a:stretch>
        </p:blipFill>
        <p:spPr>
          <a:xfrm>
            <a:off x="6858000" y="342787"/>
            <a:ext cx="4046282" cy="2748659"/>
          </a:xfrm>
          <a:prstGeom prst="rect">
            <a:avLst/>
          </a:prstGeom>
        </p:spPr>
      </p:pic>
      <p:pic>
        <p:nvPicPr>
          <p:cNvPr id="17" name="Resim 16">
            <a:extLst>
              <a:ext uri="{FF2B5EF4-FFF2-40B4-BE49-F238E27FC236}">
                <a16:creationId xmlns:a16="http://schemas.microsoft.com/office/drawing/2014/main" id="{3425C7CE-848C-F3B2-63D8-E39C6A120019}"/>
              </a:ext>
            </a:extLst>
          </p:cNvPr>
          <p:cNvPicPr>
            <a:picLocks noChangeAspect="1"/>
          </p:cNvPicPr>
          <p:nvPr/>
        </p:nvPicPr>
        <p:blipFill>
          <a:blip r:embed="rId5"/>
          <a:stretch>
            <a:fillRect/>
          </a:stretch>
        </p:blipFill>
        <p:spPr>
          <a:xfrm>
            <a:off x="6858000" y="3429000"/>
            <a:ext cx="4046282" cy="274865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Takip Et ve İlerleme</a:t>
            </a:r>
          </a:p>
        </p:txBody>
      </p:sp>
      <p:sp>
        <p:nvSpPr>
          <p:cNvPr id="5" name="TextBox 4"/>
          <p:cNvSpPr txBox="1"/>
          <p:nvPr/>
        </p:nvSpPr>
        <p:spPr>
          <a:xfrm>
            <a:off x="1000125" y="1524000"/>
            <a:ext cx="4857750" cy="6096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Günlük durum:</a:t>
            </a:r>
            <a:r>
              <a:rPr sz="1500" b="0" i="0" u="none">
                <a:solidFill>
                  <a:srgbClr val="F0F9FF"/>
                </a:solidFill>
                <a:latin typeface="Inter"/>
              </a:rPr>
              <a:t> hangi uygulamada, ne kadar süre kaldı.</a:t>
            </a:r>
          </a:p>
        </p:txBody>
      </p:sp>
      <p:sp>
        <p:nvSpPr>
          <p:cNvPr id="6" name="TextBox 5"/>
          <p:cNvSpPr txBox="1"/>
          <p:nvPr/>
        </p:nvSpPr>
        <p:spPr>
          <a:xfrm>
            <a:off x="1000125" y="2371725"/>
            <a:ext cx="485775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Başarı serisi (streak)</a:t>
            </a:r>
            <a:r>
              <a:rPr sz="1500" b="0" i="0" u="none">
                <a:solidFill>
                  <a:srgbClr val="F0F9FF"/>
                </a:solidFill>
                <a:latin typeface="Inter"/>
              </a:rPr>
              <a:t> ve puan takibi.</a:t>
            </a:r>
          </a:p>
        </p:txBody>
      </p:sp>
      <p:sp>
        <p:nvSpPr>
          <p:cNvPr id="7" name="TextBox 6"/>
          <p:cNvSpPr txBox="1"/>
          <p:nvPr/>
        </p:nvSpPr>
        <p:spPr>
          <a:xfrm>
            <a:off x="952674" y="3067050"/>
            <a:ext cx="4857750" cy="609600"/>
          </a:xfrm>
          <a:prstGeom prst="rect">
            <a:avLst/>
          </a:prstGeom>
          <a:noFill/>
        </p:spPr>
        <p:txBody>
          <a:bodyPr wrap="square" lIns="0" tIns="0" rIns="0" bIns="0" anchor="t">
            <a:spAutoFit/>
          </a:bodyPr>
          <a:lstStyle/>
          <a:p>
            <a:pPr algn="l">
              <a:lnSpc>
                <a:spcPts val="2400"/>
              </a:lnSpc>
            </a:pPr>
            <a:r>
              <a:rPr sz="1500" b="0" i="0" u="none" dirty="0" err="1">
                <a:solidFill>
                  <a:srgbClr val="F0F9FF"/>
                </a:solidFill>
                <a:latin typeface="Inter"/>
              </a:rPr>
              <a:t>Sözünü</a:t>
            </a:r>
            <a:r>
              <a:rPr sz="1500" b="0" i="0" u="none" dirty="0">
                <a:solidFill>
                  <a:srgbClr val="F0F9FF"/>
                </a:solidFill>
                <a:latin typeface="Inter"/>
              </a:rPr>
              <a:t> tut </a:t>
            </a:r>
            <a:r>
              <a:rPr sz="1500" b="0" i="0" u="none" dirty="0" err="1">
                <a:solidFill>
                  <a:srgbClr val="F0F9FF"/>
                </a:solidFill>
                <a:latin typeface="Inter"/>
              </a:rPr>
              <a:t>veya</a:t>
            </a:r>
            <a:r>
              <a:rPr sz="1500" b="0" i="0" u="none" dirty="0">
                <a:solidFill>
                  <a:srgbClr val="F0F9FF"/>
                </a:solidFill>
                <a:latin typeface="Inter"/>
              </a:rPr>
              <a:t> </a:t>
            </a:r>
            <a:r>
              <a:rPr sz="1500" b="0" i="0" u="none" dirty="0" err="1">
                <a:solidFill>
                  <a:srgbClr val="F0F9FF"/>
                </a:solidFill>
                <a:latin typeface="Inter"/>
              </a:rPr>
              <a:t>aşım</a:t>
            </a:r>
            <a:r>
              <a:rPr sz="1500" b="0" i="0" u="none" dirty="0">
                <a:solidFill>
                  <a:srgbClr val="F0F9FF"/>
                </a:solidFill>
                <a:latin typeface="Inter"/>
              </a:rPr>
              <a:t> </a:t>
            </a:r>
            <a:r>
              <a:rPr sz="1500" b="0" i="0" u="none" dirty="0" err="1">
                <a:solidFill>
                  <a:srgbClr val="F0F9FF"/>
                </a:solidFill>
                <a:latin typeface="Inter"/>
              </a:rPr>
              <a:t>durumunda</a:t>
            </a:r>
            <a:r>
              <a:rPr sz="1500" b="0" i="0" u="none" dirty="0">
                <a:solidFill>
                  <a:srgbClr val="F0F9FF"/>
                </a:solidFill>
                <a:latin typeface="Inter"/>
              </a:rPr>
              <a:t> </a:t>
            </a:r>
            <a:r>
              <a:rPr sz="1500" b="1" i="0" u="none" dirty="0" err="1">
                <a:solidFill>
                  <a:srgbClr val="F0F9FF"/>
                </a:solidFill>
                <a:latin typeface="Inter"/>
              </a:rPr>
              <a:t>anında</a:t>
            </a:r>
            <a:r>
              <a:rPr sz="1500" b="1" i="0" u="none" dirty="0">
                <a:solidFill>
                  <a:srgbClr val="F0F9FF"/>
                </a:solidFill>
                <a:latin typeface="Inter"/>
              </a:rPr>
              <a:t> </a:t>
            </a:r>
            <a:r>
              <a:rPr sz="1500" b="1" i="0" u="none" dirty="0" err="1">
                <a:solidFill>
                  <a:srgbClr val="F0F9FF"/>
                </a:solidFill>
                <a:latin typeface="Inter"/>
              </a:rPr>
              <a:t>geri</a:t>
            </a:r>
            <a:r>
              <a:rPr sz="1500" b="1" i="0" u="none" dirty="0">
                <a:solidFill>
                  <a:srgbClr val="F0F9FF"/>
                </a:solidFill>
                <a:latin typeface="Inter"/>
              </a:rPr>
              <a:t> </a:t>
            </a:r>
            <a:r>
              <a:rPr sz="1500" b="1" i="0" u="none" dirty="0" err="1">
                <a:solidFill>
                  <a:srgbClr val="F0F9FF"/>
                </a:solidFill>
                <a:latin typeface="Inter"/>
              </a:rPr>
              <a:t>bildirim</a:t>
            </a:r>
            <a:r>
              <a:rPr sz="1500" b="0" i="0" u="none" dirty="0">
                <a:solidFill>
                  <a:srgbClr val="F0F9FF"/>
                </a:solidFill>
                <a:latin typeface="Inter"/>
              </a:rPr>
              <a:t>.</a:t>
            </a:r>
          </a:p>
        </p:txBody>
      </p:sp>
      <p:pic>
        <p:nvPicPr>
          <p:cNvPr id="9" name="Picture 8" descr="image.png"/>
          <p:cNvPicPr>
            <a:picLocks noChangeAspect="1"/>
          </p:cNvPicPr>
          <p:nvPr/>
        </p:nvPicPr>
        <p:blipFill>
          <a:blip r:embed="rId3"/>
          <a:stretch>
            <a:fillRect/>
          </a:stretch>
        </p:blipFill>
        <p:spPr>
          <a:xfrm>
            <a:off x="571500" y="1552575"/>
            <a:ext cx="228600" cy="247650"/>
          </a:xfrm>
          <a:prstGeom prst="rect">
            <a:avLst/>
          </a:prstGeom>
        </p:spPr>
      </p:pic>
      <p:pic>
        <p:nvPicPr>
          <p:cNvPr id="10" name="Picture 9" descr="image.png"/>
          <p:cNvPicPr>
            <a:picLocks noChangeAspect="1"/>
          </p:cNvPicPr>
          <p:nvPr/>
        </p:nvPicPr>
        <p:blipFill>
          <a:blip r:embed="rId4"/>
          <a:stretch>
            <a:fillRect/>
          </a:stretch>
        </p:blipFill>
        <p:spPr>
          <a:xfrm>
            <a:off x="571500" y="2400300"/>
            <a:ext cx="200025" cy="247650"/>
          </a:xfrm>
          <a:prstGeom prst="rect">
            <a:avLst/>
          </a:prstGeom>
        </p:spPr>
      </p:pic>
      <p:pic>
        <p:nvPicPr>
          <p:cNvPr id="11" name="Picture 10" descr="image.png"/>
          <p:cNvPicPr>
            <a:picLocks noChangeAspect="1"/>
          </p:cNvPicPr>
          <p:nvPr/>
        </p:nvPicPr>
        <p:blipFill>
          <a:blip r:embed="rId5"/>
          <a:stretch>
            <a:fillRect/>
          </a:stretch>
        </p:blipFill>
        <p:spPr>
          <a:xfrm>
            <a:off x="585787" y="3124200"/>
            <a:ext cx="200025" cy="247650"/>
          </a:xfrm>
          <a:prstGeom prst="rect">
            <a:avLst/>
          </a:prstGeom>
        </p:spPr>
      </p:pic>
      <p:pic>
        <p:nvPicPr>
          <p:cNvPr id="13" name="Resim 12">
            <a:extLst>
              <a:ext uri="{FF2B5EF4-FFF2-40B4-BE49-F238E27FC236}">
                <a16:creationId xmlns:a16="http://schemas.microsoft.com/office/drawing/2014/main" id="{F8587C95-44DA-4102-3F94-37E6B3CD08D2}"/>
              </a:ext>
            </a:extLst>
          </p:cNvPr>
          <p:cNvPicPr>
            <a:picLocks noChangeAspect="1"/>
          </p:cNvPicPr>
          <p:nvPr/>
        </p:nvPicPr>
        <p:blipFill>
          <a:blip r:embed="rId6"/>
          <a:stretch>
            <a:fillRect/>
          </a:stretch>
        </p:blipFill>
        <p:spPr>
          <a:xfrm>
            <a:off x="6305376" y="601475"/>
            <a:ext cx="5296074" cy="359764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4" name="TextBox 3"/>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Durum Tablosu</a:t>
            </a:r>
          </a:p>
        </p:txBody>
      </p:sp>
      <p:sp>
        <p:nvSpPr>
          <p:cNvPr id="5" name="TextBox 4"/>
          <p:cNvSpPr txBox="1"/>
          <p:nvPr/>
        </p:nvSpPr>
        <p:spPr>
          <a:xfrm>
            <a:off x="1000125" y="1524000"/>
            <a:ext cx="485775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Puan, şu anki seri, en iyi seri takibi.</a:t>
            </a:r>
          </a:p>
        </p:txBody>
      </p:sp>
      <p:sp>
        <p:nvSpPr>
          <p:cNvPr id="6" name="TextBox 5"/>
          <p:cNvSpPr txBox="1"/>
          <p:nvPr/>
        </p:nvSpPr>
        <p:spPr>
          <a:xfrm>
            <a:off x="1000125" y="2066925"/>
            <a:ext cx="485775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Tutulan söz / bozulan söz istatistikleri.</a:t>
            </a:r>
          </a:p>
        </p:txBody>
      </p:sp>
      <p:sp>
        <p:nvSpPr>
          <p:cNvPr id="7" name="TextBox 6"/>
          <p:cNvSpPr txBox="1"/>
          <p:nvPr/>
        </p:nvSpPr>
        <p:spPr>
          <a:xfrm>
            <a:off x="1000125" y="2609850"/>
            <a:ext cx="4857750" cy="6096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Son 7 gün - en çok zaman harcanan kategoriler (Dizi/Film, Sosyal Medya, Video).</a:t>
            </a:r>
          </a:p>
        </p:txBody>
      </p:sp>
      <p:sp>
        <p:nvSpPr>
          <p:cNvPr id="8" name="TextBox 7"/>
          <p:cNvSpPr txBox="1"/>
          <p:nvPr/>
        </p:nvSpPr>
        <p:spPr>
          <a:xfrm>
            <a:off x="1000125" y="3457575"/>
            <a:ext cx="485775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Günün sözü ve ekstra puan kazanma fırsatları.</a:t>
            </a:r>
          </a:p>
        </p:txBody>
      </p:sp>
      <p:pic>
        <p:nvPicPr>
          <p:cNvPr id="10" name="Picture 9" descr="image.png"/>
          <p:cNvPicPr>
            <a:picLocks noChangeAspect="1"/>
          </p:cNvPicPr>
          <p:nvPr/>
        </p:nvPicPr>
        <p:blipFill>
          <a:blip r:embed="rId3"/>
          <a:stretch>
            <a:fillRect/>
          </a:stretch>
        </p:blipFill>
        <p:spPr>
          <a:xfrm>
            <a:off x="571500" y="1552575"/>
            <a:ext cx="257175" cy="247650"/>
          </a:xfrm>
          <a:prstGeom prst="rect">
            <a:avLst/>
          </a:prstGeom>
        </p:spPr>
      </p:pic>
      <p:pic>
        <p:nvPicPr>
          <p:cNvPr id="11" name="Picture 10" descr="image.png"/>
          <p:cNvPicPr>
            <a:picLocks noChangeAspect="1"/>
          </p:cNvPicPr>
          <p:nvPr/>
        </p:nvPicPr>
        <p:blipFill>
          <a:blip r:embed="rId4"/>
          <a:stretch>
            <a:fillRect/>
          </a:stretch>
        </p:blipFill>
        <p:spPr>
          <a:xfrm>
            <a:off x="571500" y="2095500"/>
            <a:ext cx="257175" cy="247650"/>
          </a:xfrm>
          <a:prstGeom prst="rect">
            <a:avLst/>
          </a:prstGeom>
        </p:spPr>
      </p:pic>
      <p:pic>
        <p:nvPicPr>
          <p:cNvPr id="12" name="Picture 11" descr="image.png"/>
          <p:cNvPicPr>
            <a:picLocks noChangeAspect="1"/>
          </p:cNvPicPr>
          <p:nvPr/>
        </p:nvPicPr>
        <p:blipFill>
          <a:blip r:embed="rId5"/>
          <a:stretch>
            <a:fillRect/>
          </a:stretch>
        </p:blipFill>
        <p:spPr>
          <a:xfrm>
            <a:off x="571500" y="2638425"/>
            <a:ext cx="200025" cy="247650"/>
          </a:xfrm>
          <a:prstGeom prst="rect">
            <a:avLst/>
          </a:prstGeom>
        </p:spPr>
      </p:pic>
      <p:pic>
        <p:nvPicPr>
          <p:cNvPr id="13" name="Picture 12" descr="image.png"/>
          <p:cNvPicPr>
            <a:picLocks noChangeAspect="1"/>
          </p:cNvPicPr>
          <p:nvPr/>
        </p:nvPicPr>
        <p:blipFill>
          <a:blip r:embed="rId6"/>
          <a:stretch>
            <a:fillRect/>
          </a:stretch>
        </p:blipFill>
        <p:spPr>
          <a:xfrm>
            <a:off x="571500" y="3486150"/>
            <a:ext cx="228600" cy="247650"/>
          </a:xfrm>
          <a:prstGeom prst="rect">
            <a:avLst/>
          </a:prstGeom>
        </p:spPr>
      </p:pic>
      <p:pic>
        <p:nvPicPr>
          <p:cNvPr id="15" name="Resim 14">
            <a:extLst>
              <a:ext uri="{FF2B5EF4-FFF2-40B4-BE49-F238E27FC236}">
                <a16:creationId xmlns:a16="http://schemas.microsoft.com/office/drawing/2014/main" id="{ADF5FBBF-0937-2823-3C19-6F1B629D5A4A}"/>
              </a:ext>
            </a:extLst>
          </p:cNvPr>
          <p:cNvPicPr>
            <a:picLocks noChangeAspect="1"/>
          </p:cNvPicPr>
          <p:nvPr/>
        </p:nvPicPr>
        <p:blipFill>
          <a:blip r:embed="rId7"/>
          <a:stretch>
            <a:fillRect/>
          </a:stretch>
        </p:blipFill>
        <p:spPr>
          <a:xfrm>
            <a:off x="6274395" y="1017618"/>
            <a:ext cx="5501085" cy="373691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524000"/>
            <a:ext cx="11049000" cy="4762500"/>
          </a:xfrm>
          <a:prstGeom prst="rect">
            <a:avLst/>
          </a:prstGeom>
        </p:spPr>
      </p:pic>
      <p:sp>
        <p:nvSpPr>
          <p:cNvPr id="5" name="TextBox 4"/>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Grafikler</a:t>
            </a:r>
          </a:p>
        </p:txBody>
      </p:sp>
      <p:pic>
        <p:nvPicPr>
          <p:cNvPr id="8" name="Resim 7">
            <a:extLst>
              <a:ext uri="{FF2B5EF4-FFF2-40B4-BE49-F238E27FC236}">
                <a16:creationId xmlns:a16="http://schemas.microsoft.com/office/drawing/2014/main" id="{70F47122-979B-E39B-FB6B-5161CC4A1BE9}"/>
              </a:ext>
            </a:extLst>
          </p:cNvPr>
          <p:cNvPicPr>
            <a:picLocks noChangeAspect="1"/>
          </p:cNvPicPr>
          <p:nvPr/>
        </p:nvPicPr>
        <p:blipFill>
          <a:blip r:embed="rId4"/>
          <a:stretch>
            <a:fillRect/>
          </a:stretch>
        </p:blipFill>
        <p:spPr>
          <a:xfrm>
            <a:off x="6296946" y="1587697"/>
            <a:ext cx="5323554" cy="361631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38337"/>
            <a:ext cx="3492549" cy="3933825"/>
          </a:xfrm>
          <a:prstGeom prst="rect">
            <a:avLst/>
          </a:prstGeom>
        </p:spPr>
      </p:pic>
      <p:pic>
        <p:nvPicPr>
          <p:cNvPr id="4" name="Picture 3" descr="image.png"/>
          <p:cNvPicPr>
            <a:picLocks noChangeAspect="1"/>
          </p:cNvPicPr>
          <p:nvPr/>
        </p:nvPicPr>
        <p:blipFill>
          <a:blip r:embed="rId4"/>
          <a:stretch>
            <a:fillRect/>
          </a:stretch>
        </p:blipFill>
        <p:spPr>
          <a:xfrm>
            <a:off x="4349799" y="1938337"/>
            <a:ext cx="3492549" cy="3933825"/>
          </a:xfrm>
          <a:prstGeom prst="rect">
            <a:avLst/>
          </a:prstGeom>
        </p:spPr>
      </p:pic>
      <p:pic>
        <p:nvPicPr>
          <p:cNvPr id="5" name="Picture 4" descr="image.png"/>
          <p:cNvPicPr>
            <a:picLocks noChangeAspect="1"/>
          </p:cNvPicPr>
          <p:nvPr/>
        </p:nvPicPr>
        <p:blipFill>
          <a:blip r:embed="rId5"/>
          <a:stretch>
            <a:fillRect/>
          </a:stretch>
        </p:blipFill>
        <p:spPr>
          <a:xfrm>
            <a:off x="8128099" y="1938337"/>
            <a:ext cx="3492549" cy="3933825"/>
          </a:xfrm>
          <a:prstGeom prst="rect">
            <a:avLst/>
          </a:prstGeom>
        </p:spPr>
      </p:pic>
      <p:sp>
        <p:nvSpPr>
          <p:cNvPr id="6" name="TextBox 5"/>
          <p:cNvSpPr txBox="1"/>
          <p:nvPr/>
        </p:nvSpPr>
        <p:spPr>
          <a:xfrm>
            <a:off x="571500" y="571500"/>
            <a:ext cx="11601450" cy="461665"/>
          </a:xfrm>
          <a:prstGeom prst="rect">
            <a:avLst/>
          </a:prstGeom>
          <a:noFill/>
        </p:spPr>
        <p:txBody>
          <a:bodyPr wrap="square" lIns="0" tIns="0" rIns="0" bIns="0" anchor="t">
            <a:spAutoFit/>
          </a:bodyPr>
          <a:lstStyle/>
          <a:p>
            <a:pPr algn="l"/>
            <a:r>
              <a:rPr lang="tr-TR" sz="3000" b="1" i="0" u="none">
                <a:solidFill>
                  <a:srgbClr val="38BDF8"/>
                </a:solidFill>
                <a:latin typeface="Poppins"/>
              </a:rPr>
              <a:t>Uygulamamız</a:t>
            </a:r>
            <a:r>
              <a:rPr sz="3000" b="1" i="0" u="none">
                <a:solidFill>
                  <a:srgbClr val="38BDF8"/>
                </a:solidFill>
                <a:latin typeface="Poppins"/>
              </a:rPr>
              <a:t> Ne İşe Yarıyor?</a:t>
            </a:r>
          </a:p>
        </p:txBody>
      </p:sp>
      <p:sp>
        <p:nvSpPr>
          <p:cNvPr id="7" name="TextBox 6"/>
          <p:cNvSpPr txBox="1"/>
          <p:nvPr/>
        </p:nvSpPr>
        <p:spPr>
          <a:xfrm>
            <a:off x="794225" y="3176587"/>
            <a:ext cx="3047099" cy="800100"/>
          </a:xfrm>
          <a:prstGeom prst="rect">
            <a:avLst/>
          </a:prstGeom>
          <a:noFill/>
        </p:spPr>
        <p:txBody>
          <a:bodyPr wrap="square" lIns="0" tIns="0" rIns="0" bIns="0" anchor="t">
            <a:spAutoFit/>
          </a:bodyPr>
          <a:lstStyle/>
          <a:p>
            <a:pPr algn="ctr"/>
            <a:r>
              <a:rPr sz="2100" b="1" i="0" u="none">
                <a:solidFill>
                  <a:srgbClr val="38BDF8"/>
                </a:solidFill>
                <a:latin typeface="Poppins"/>
              </a:rPr>
              <a:t>SÖZ VER / HEDEF OLUŞTUR</a:t>
            </a:r>
          </a:p>
        </p:txBody>
      </p:sp>
      <p:sp>
        <p:nvSpPr>
          <p:cNvPr id="8" name="TextBox 7"/>
          <p:cNvSpPr txBox="1"/>
          <p:nvPr/>
        </p:nvSpPr>
        <p:spPr>
          <a:xfrm>
            <a:off x="866775" y="4119562"/>
            <a:ext cx="2901999" cy="12192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Kullanıcının davranışını somutlaştırır. "Daha az kullanacağım" hedefini </a:t>
            </a:r>
            <a:r>
              <a:rPr sz="1500" b="1" i="0" u="none">
                <a:solidFill>
                  <a:srgbClr val="F0F9FF"/>
                </a:solidFill>
                <a:latin typeface="Inter"/>
              </a:rPr>
              <a:t>ölçülebilir taahhüde</a:t>
            </a:r>
            <a:r>
              <a:rPr sz="1500" b="0" i="0" u="none">
                <a:solidFill>
                  <a:srgbClr val="F0F9FF"/>
                </a:solidFill>
                <a:latin typeface="Inter"/>
              </a:rPr>
              <a:t> dönüştürür.</a:t>
            </a:r>
          </a:p>
        </p:txBody>
      </p:sp>
      <p:sp>
        <p:nvSpPr>
          <p:cNvPr id="9" name="TextBox 8"/>
          <p:cNvSpPr txBox="1"/>
          <p:nvPr/>
        </p:nvSpPr>
        <p:spPr>
          <a:xfrm>
            <a:off x="4572524" y="3176587"/>
            <a:ext cx="3047099" cy="800100"/>
          </a:xfrm>
          <a:prstGeom prst="rect">
            <a:avLst/>
          </a:prstGeom>
          <a:noFill/>
        </p:spPr>
        <p:txBody>
          <a:bodyPr wrap="square" lIns="0" tIns="0" rIns="0" bIns="0" anchor="t">
            <a:spAutoFit/>
          </a:bodyPr>
          <a:lstStyle/>
          <a:p>
            <a:pPr algn="ctr"/>
            <a:r>
              <a:rPr sz="2100" b="1" i="0" u="none">
                <a:solidFill>
                  <a:srgbClr val="38BDF8"/>
                </a:solidFill>
                <a:latin typeface="Poppins"/>
              </a:rPr>
              <a:t>TAKİP / TAMAMLADIM</a:t>
            </a:r>
          </a:p>
        </p:txBody>
      </p:sp>
      <p:sp>
        <p:nvSpPr>
          <p:cNvPr id="10" name="TextBox 9"/>
          <p:cNvSpPr txBox="1"/>
          <p:nvPr/>
        </p:nvSpPr>
        <p:spPr>
          <a:xfrm>
            <a:off x="4645074" y="4119562"/>
            <a:ext cx="2901999" cy="12192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İlerleme bilgisini kaydeder. Davranış değişiminde geri bildirim ve </a:t>
            </a:r>
            <a:r>
              <a:rPr sz="1500" b="1" i="0" u="none">
                <a:solidFill>
                  <a:srgbClr val="F0F9FF"/>
                </a:solidFill>
                <a:latin typeface="Inter"/>
              </a:rPr>
              <a:t>görünür ilerleme</a:t>
            </a:r>
            <a:r>
              <a:rPr sz="1500" b="0" i="0" u="none">
                <a:solidFill>
                  <a:srgbClr val="F0F9FF"/>
                </a:solidFill>
                <a:latin typeface="Inter"/>
              </a:rPr>
              <a:t> oluşturur.</a:t>
            </a:r>
          </a:p>
        </p:txBody>
      </p:sp>
      <p:sp>
        <p:nvSpPr>
          <p:cNvPr id="11" name="TextBox 10"/>
          <p:cNvSpPr txBox="1"/>
          <p:nvPr/>
        </p:nvSpPr>
        <p:spPr>
          <a:xfrm>
            <a:off x="8350824" y="3176587"/>
            <a:ext cx="3047099" cy="800100"/>
          </a:xfrm>
          <a:prstGeom prst="rect">
            <a:avLst/>
          </a:prstGeom>
          <a:noFill/>
        </p:spPr>
        <p:txBody>
          <a:bodyPr wrap="square" lIns="0" tIns="0" rIns="0" bIns="0" anchor="t">
            <a:spAutoFit/>
          </a:bodyPr>
          <a:lstStyle/>
          <a:p>
            <a:pPr algn="ctr"/>
            <a:r>
              <a:rPr sz="2100" b="1" i="0" u="none">
                <a:solidFill>
                  <a:srgbClr val="38BDF8"/>
                </a:solidFill>
                <a:latin typeface="Poppins"/>
              </a:rPr>
              <a:t>CHATBOT / DESTEK AL</a:t>
            </a:r>
          </a:p>
        </p:txBody>
      </p:sp>
      <p:sp>
        <p:nvSpPr>
          <p:cNvPr id="12" name="TextBox 11"/>
          <p:cNvSpPr txBox="1"/>
          <p:nvPr/>
        </p:nvSpPr>
        <p:spPr>
          <a:xfrm>
            <a:off x="8423374" y="4119562"/>
            <a:ext cx="2901999" cy="1219200"/>
          </a:xfrm>
          <a:prstGeom prst="rect">
            <a:avLst/>
          </a:prstGeom>
          <a:noFill/>
        </p:spPr>
        <p:txBody>
          <a:bodyPr wrap="square" lIns="0" tIns="0" rIns="0" bIns="0" anchor="t">
            <a:spAutoFit/>
          </a:bodyPr>
          <a:lstStyle/>
          <a:p>
            <a:pPr algn="ctr">
              <a:lnSpc>
                <a:spcPts val="2400"/>
              </a:lnSpc>
            </a:pPr>
            <a:r>
              <a:rPr sz="1500" b="0" i="0" u="none">
                <a:solidFill>
                  <a:srgbClr val="F0F9FF"/>
                </a:solidFill>
                <a:latin typeface="Inter"/>
              </a:rPr>
              <a:t>Zorlandığında GenAI destekli öneri sunar. Statik içerik yerine </a:t>
            </a:r>
            <a:r>
              <a:rPr sz="1500" b="1" i="0" u="none">
                <a:solidFill>
                  <a:srgbClr val="F0F9FF"/>
                </a:solidFill>
                <a:latin typeface="Inter"/>
              </a:rPr>
              <a:t>bağlama duyarlı etkileşim</a:t>
            </a:r>
            <a:r>
              <a:rPr sz="1500" b="0" i="0" u="none">
                <a:solidFill>
                  <a:srgbClr val="F0F9FF"/>
                </a:solidFill>
                <a:latin typeface="Inter"/>
              </a:rPr>
              <a:t> sağlar.</a:t>
            </a:r>
          </a:p>
        </p:txBody>
      </p:sp>
      <p:pic>
        <p:nvPicPr>
          <p:cNvPr id="13" name="Picture 12" descr="image.png"/>
          <p:cNvPicPr>
            <a:picLocks noChangeAspect="1"/>
          </p:cNvPicPr>
          <p:nvPr/>
        </p:nvPicPr>
        <p:blipFill>
          <a:blip r:embed="rId6"/>
          <a:stretch>
            <a:fillRect/>
          </a:stretch>
        </p:blipFill>
        <p:spPr>
          <a:xfrm>
            <a:off x="2060525" y="2424112"/>
            <a:ext cx="514350" cy="457200"/>
          </a:xfrm>
          <a:prstGeom prst="rect">
            <a:avLst/>
          </a:prstGeom>
        </p:spPr>
      </p:pic>
      <p:pic>
        <p:nvPicPr>
          <p:cNvPr id="14" name="Picture 13" descr="image.png"/>
          <p:cNvPicPr>
            <a:picLocks noChangeAspect="1"/>
          </p:cNvPicPr>
          <p:nvPr/>
        </p:nvPicPr>
        <p:blipFill>
          <a:blip r:embed="rId7"/>
          <a:stretch>
            <a:fillRect/>
          </a:stretch>
        </p:blipFill>
        <p:spPr>
          <a:xfrm>
            <a:off x="5867400" y="2424112"/>
            <a:ext cx="457200" cy="457200"/>
          </a:xfrm>
          <a:prstGeom prst="rect">
            <a:avLst/>
          </a:prstGeom>
        </p:spPr>
      </p:pic>
      <p:pic>
        <p:nvPicPr>
          <p:cNvPr id="15" name="Picture 14" descr="image.png"/>
          <p:cNvPicPr>
            <a:picLocks noChangeAspect="1"/>
          </p:cNvPicPr>
          <p:nvPr/>
        </p:nvPicPr>
        <p:blipFill>
          <a:blip r:embed="rId8"/>
          <a:stretch>
            <a:fillRect/>
          </a:stretch>
        </p:blipFill>
        <p:spPr>
          <a:xfrm>
            <a:off x="9588549" y="2424112"/>
            <a:ext cx="571500" cy="4572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4006464" y="167963"/>
            <a:ext cx="11601450" cy="571500"/>
          </a:xfrm>
          <a:prstGeom prst="rect">
            <a:avLst/>
          </a:prstGeom>
          <a:noFill/>
        </p:spPr>
        <p:txBody>
          <a:bodyPr wrap="square" lIns="0" tIns="0" rIns="0" bIns="0" anchor="t">
            <a:spAutoFit/>
          </a:bodyPr>
          <a:lstStyle/>
          <a:p>
            <a:pPr algn="l"/>
            <a:r>
              <a:rPr sz="3000" b="1" i="0" u="none" dirty="0" err="1">
                <a:solidFill>
                  <a:srgbClr val="38BDF8"/>
                </a:solidFill>
                <a:latin typeface="Poppins"/>
              </a:rPr>
              <a:t>Ödül</a:t>
            </a:r>
            <a:r>
              <a:rPr sz="3000" b="1" i="0" u="none" dirty="0">
                <a:solidFill>
                  <a:srgbClr val="38BDF8"/>
                </a:solidFill>
                <a:latin typeface="Poppins"/>
              </a:rPr>
              <a:t> ve Puan </a:t>
            </a:r>
            <a:r>
              <a:rPr sz="3000" b="1" i="0" u="none" dirty="0" err="1">
                <a:solidFill>
                  <a:srgbClr val="38BDF8"/>
                </a:solidFill>
                <a:latin typeface="Poppins"/>
              </a:rPr>
              <a:t>Sistemi</a:t>
            </a:r>
            <a:endParaRPr sz="3000" b="1" i="0" u="none" dirty="0">
              <a:solidFill>
                <a:srgbClr val="38BDF8"/>
              </a:solidFill>
              <a:latin typeface="Poppins"/>
            </a:endParaRPr>
          </a:p>
        </p:txBody>
      </p:sp>
      <p:sp>
        <p:nvSpPr>
          <p:cNvPr id="6" name="TextBox 5"/>
          <p:cNvSpPr txBox="1"/>
          <p:nvPr/>
        </p:nvSpPr>
        <p:spPr>
          <a:xfrm>
            <a:off x="504822" y="846944"/>
            <a:ext cx="5286375" cy="609600"/>
          </a:xfrm>
          <a:prstGeom prst="rect">
            <a:avLst/>
          </a:prstGeom>
          <a:noFill/>
        </p:spPr>
        <p:txBody>
          <a:bodyPr wrap="square" lIns="0" tIns="0" rIns="0" bIns="0" anchor="t">
            <a:spAutoFit/>
          </a:bodyPr>
          <a:lstStyle/>
          <a:p>
            <a:pPr algn="l">
              <a:lnSpc>
                <a:spcPts val="2400"/>
              </a:lnSpc>
            </a:pPr>
            <a:r>
              <a:rPr sz="1500" b="0" i="1" u="none" dirty="0" err="1">
                <a:solidFill>
                  <a:srgbClr val="7DD3FC"/>
                </a:solidFill>
                <a:latin typeface="Inter"/>
              </a:rPr>
              <a:t>Ödül</a:t>
            </a:r>
            <a:r>
              <a:rPr sz="1500" b="0" i="1" u="none" dirty="0">
                <a:solidFill>
                  <a:srgbClr val="7DD3FC"/>
                </a:solidFill>
                <a:latin typeface="Inter"/>
              </a:rPr>
              <a:t> </a:t>
            </a:r>
            <a:r>
              <a:rPr sz="1500" b="0" i="1" u="none" dirty="0" err="1">
                <a:solidFill>
                  <a:srgbClr val="7DD3FC"/>
                </a:solidFill>
                <a:latin typeface="Inter"/>
              </a:rPr>
              <a:t>mekanizması</a:t>
            </a:r>
            <a:r>
              <a:rPr sz="1500" b="0" i="1" u="none" dirty="0">
                <a:solidFill>
                  <a:srgbClr val="7DD3FC"/>
                </a:solidFill>
                <a:latin typeface="Inter"/>
              </a:rPr>
              <a:t> </a:t>
            </a:r>
            <a:r>
              <a:rPr sz="1500" b="0" i="1" u="none" dirty="0" err="1">
                <a:solidFill>
                  <a:srgbClr val="7DD3FC"/>
                </a:solidFill>
                <a:latin typeface="Inter"/>
              </a:rPr>
              <a:t>amaç</a:t>
            </a:r>
            <a:r>
              <a:rPr sz="1500" b="0" i="1" u="none" dirty="0">
                <a:solidFill>
                  <a:srgbClr val="7DD3FC"/>
                </a:solidFill>
                <a:latin typeface="Inter"/>
              </a:rPr>
              <a:t> </a:t>
            </a:r>
            <a:r>
              <a:rPr sz="1500" b="0" i="1" u="none" dirty="0" err="1">
                <a:solidFill>
                  <a:srgbClr val="7DD3FC"/>
                </a:solidFill>
                <a:latin typeface="Inter"/>
              </a:rPr>
              <a:t>değil</a:t>
            </a:r>
            <a:r>
              <a:rPr sz="1500" b="0" i="1" u="none" dirty="0">
                <a:solidFill>
                  <a:srgbClr val="7DD3FC"/>
                </a:solidFill>
                <a:latin typeface="Inter"/>
              </a:rPr>
              <a:t>, </a:t>
            </a:r>
            <a:r>
              <a:rPr sz="1500" b="0" i="1" u="none" dirty="0" err="1">
                <a:solidFill>
                  <a:srgbClr val="7DD3FC"/>
                </a:solidFill>
                <a:latin typeface="Inter"/>
              </a:rPr>
              <a:t>hedefe</a:t>
            </a:r>
            <a:r>
              <a:rPr sz="1500" b="0" i="1" u="none" dirty="0">
                <a:solidFill>
                  <a:srgbClr val="7DD3FC"/>
                </a:solidFill>
                <a:latin typeface="Inter"/>
              </a:rPr>
              <a:t> </a:t>
            </a:r>
            <a:r>
              <a:rPr sz="1500" b="0" i="1" u="none" dirty="0" err="1">
                <a:solidFill>
                  <a:srgbClr val="7DD3FC"/>
                </a:solidFill>
                <a:latin typeface="Inter"/>
              </a:rPr>
              <a:t>devam</a:t>
            </a:r>
            <a:r>
              <a:rPr sz="1500" b="0" i="1" u="none" dirty="0">
                <a:solidFill>
                  <a:srgbClr val="7DD3FC"/>
                </a:solidFill>
                <a:latin typeface="Inter"/>
              </a:rPr>
              <a:t> </a:t>
            </a:r>
            <a:r>
              <a:rPr sz="1500" b="0" i="1" u="none" dirty="0" err="1">
                <a:solidFill>
                  <a:srgbClr val="7DD3FC"/>
                </a:solidFill>
                <a:latin typeface="Inter"/>
              </a:rPr>
              <a:t>etmeyi</a:t>
            </a:r>
            <a:r>
              <a:rPr sz="1500" b="0" i="1" u="none" dirty="0">
                <a:solidFill>
                  <a:srgbClr val="7DD3FC"/>
                </a:solidFill>
                <a:latin typeface="Inter"/>
              </a:rPr>
              <a:t> </a:t>
            </a:r>
            <a:r>
              <a:rPr sz="1500" b="0" i="1" u="none" dirty="0" err="1">
                <a:solidFill>
                  <a:srgbClr val="7DD3FC"/>
                </a:solidFill>
                <a:latin typeface="Inter"/>
              </a:rPr>
              <a:t>destekleyen</a:t>
            </a:r>
            <a:r>
              <a:rPr sz="1500" b="0" i="1" u="none" dirty="0">
                <a:solidFill>
                  <a:srgbClr val="7DD3FC"/>
                </a:solidFill>
                <a:latin typeface="Inter"/>
              </a:rPr>
              <a:t> </a:t>
            </a:r>
            <a:r>
              <a:rPr sz="1500" b="0" i="1" u="none" dirty="0" err="1">
                <a:solidFill>
                  <a:srgbClr val="7DD3FC"/>
                </a:solidFill>
                <a:latin typeface="Inter"/>
              </a:rPr>
              <a:t>bir</a:t>
            </a:r>
            <a:r>
              <a:rPr sz="1500" b="0" i="1" u="none" dirty="0">
                <a:solidFill>
                  <a:srgbClr val="7DD3FC"/>
                </a:solidFill>
                <a:latin typeface="Inter"/>
              </a:rPr>
              <a:t> </a:t>
            </a:r>
            <a:r>
              <a:rPr sz="1500" b="0" i="1" u="none" dirty="0" err="1">
                <a:solidFill>
                  <a:srgbClr val="7DD3FC"/>
                </a:solidFill>
                <a:latin typeface="Inter"/>
              </a:rPr>
              <a:t>araçtır</a:t>
            </a:r>
            <a:r>
              <a:rPr sz="1500" b="0" i="1" u="none" dirty="0">
                <a:solidFill>
                  <a:srgbClr val="7DD3FC"/>
                </a:solidFill>
                <a:latin typeface="Inter"/>
              </a:rPr>
              <a:t>.</a:t>
            </a:r>
          </a:p>
        </p:txBody>
      </p:sp>
      <p:sp>
        <p:nvSpPr>
          <p:cNvPr id="7" name="TextBox 6"/>
          <p:cNvSpPr txBox="1"/>
          <p:nvPr/>
        </p:nvSpPr>
        <p:spPr>
          <a:xfrm>
            <a:off x="742948" y="1858945"/>
            <a:ext cx="4810125" cy="304800"/>
          </a:xfrm>
          <a:prstGeom prst="rect">
            <a:avLst/>
          </a:prstGeom>
          <a:noFill/>
        </p:spPr>
        <p:txBody>
          <a:bodyPr wrap="square" lIns="0" tIns="0" rIns="0" bIns="0" anchor="t">
            <a:spAutoFit/>
          </a:bodyPr>
          <a:lstStyle/>
          <a:p>
            <a:pPr algn="l">
              <a:lnSpc>
                <a:spcPts val="2400"/>
              </a:lnSpc>
            </a:pPr>
            <a:r>
              <a:rPr sz="1500" b="1" i="0" u="none" dirty="0">
                <a:solidFill>
                  <a:srgbClr val="F0F9FF"/>
                </a:solidFill>
                <a:latin typeface="Inter"/>
              </a:rPr>
              <a:t>Eylem:</a:t>
            </a:r>
            <a:r>
              <a:rPr sz="1500" b="0" i="0" u="none" dirty="0">
                <a:solidFill>
                  <a:srgbClr val="F0F9FF"/>
                </a:solidFill>
                <a:latin typeface="Inter"/>
              </a:rPr>
              <a:t> </a:t>
            </a:r>
            <a:r>
              <a:rPr sz="1500" b="0" i="0" u="none" dirty="0" err="1">
                <a:solidFill>
                  <a:srgbClr val="F0F9FF"/>
                </a:solidFill>
                <a:latin typeface="Inter"/>
              </a:rPr>
              <a:t>Kullanıcı</a:t>
            </a:r>
            <a:r>
              <a:rPr sz="1500" b="0" i="0" u="none" dirty="0">
                <a:solidFill>
                  <a:srgbClr val="F0F9FF"/>
                </a:solidFill>
                <a:latin typeface="Inter"/>
              </a:rPr>
              <a:t> </a:t>
            </a:r>
            <a:r>
              <a:rPr sz="1500" b="0" i="0" u="none" dirty="0" err="1">
                <a:solidFill>
                  <a:srgbClr val="F0F9FF"/>
                </a:solidFill>
                <a:latin typeface="Inter"/>
              </a:rPr>
              <a:t>hedef</a:t>
            </a:r>
            <a:r>
              <a:rPr sz="1500" b="0" i="0" u="none" dirty="0">
                <a:solidFill>
                  <a:srgbClr val="F0F9FF"/>
                </a:solidFill>
                <a:latin typeface="Inter"/>
              </a:rPr>
              <a:t> </a:t>
            </a:r>
            <a:r>
              <a:rPr sz="1500" b="0" i="0" u="none" dirty="0" err="1">
                <a:solidFill>
                  <a:srgbClr val="F0F9FF"/>
                </a:solidFill>
                <a:latin typeface="Inter"/>
              </a:rPr>
              <a:t>için</a:t>
            </a:r>
            <a:r>
              <a:rPr sz="1500" b="0" i="0" u="none" dirty="0">
                <a:solidFill>
                  <a:srgbClr val="F0F9FF"/>
                </a:solidFill>
                <a:latin typeface="Inter"/>
              </a:rPr>
              <a:t> </a:t>
            </a:r>
            <a:r>
              <a:rPr sz="1500" b="0" i="0" u="none" dirty="0" err="1">
                <a:solidFill>
                  <a:srgbClr val="F0F9FF"/>
                </a:solidFill>
                <a:latin typeface="Inter"/>
              </a:rPr>
              <a:t>ilerleme</a:t>
            </a:r>
            <a:r>
              <a:rPr sz="1500" b="0" i="0" u="none" dirty="0">
                <a:solidFill>
                  <a:srgbClr val="F0F9FF"/>
                </a:solidFill>
                <a:latin typeface="Inter"/>
              </a:rPr>
              <a:t> </a:t>
            </a:r>
            <a:r>
              <a:rPr sz="1500" b="0" i="0" u="none" dirty="0" err="1">
                <a:solidFill>
                  <a:srgbClr val="F0F9FF"/>
                </a:solidFill>
                <a:latin typeface="Inter"/>
              </a:rPr>
              <a:t>kaydeder</a:t>
            </a:r>
            <a:r>
              <a:rPr sz="1500" b="0" i="0" u="none" dirty="0">
                <a:solidFill>
                  <a:srgbClr val="F0F9FF"/>
                </a:solidFill>
                <a:latin typeface="Inter"/>
              </a:rPr>
              <a:t>.</a:t>
            </a:r>
          </a:p>
        </p:txBody>
      </p:sp>
      <p:sp>
        <p:nvSpPr>
          <p:cNvPr id="8" name="TextBox 7"/>
          <p:cNvSpPr txBox="1"/>
          <p:nvPr/>
        </p:nvSpPr>
        <p:spPr>
          <a:xfrm>
            <a:off x="742949" y="2303488"/>
            <a:ext cx="4810125" cy="304800"/>
          </a:xfrm>
          <a:prstGeom prst="rect">
            <a:avLst/>
          </a:prstGeom>
          <a:noFill/>
        </p:spPr>
        <p:txBody>
          <a:bodyPr wrap="square" lIns="0" tIns="0" rIns="0" bIns="0" anchor="t">
            <a:spAutoFit/>
          </a:bodyPr>
          <a:lstStyle/>
          <a:p>
            <a:pPr algn="l">
              <a:lnSpc>
                <a:spcPts val="2400"/>
              </a:lnSpc>
            </a:pPr>
            <a:r>
              <a:rPr sz="1500" b="1" i="0" u="none" dirty="0">
                <a:solidFill>
                  <a:srgbClr val="F0F9FF"/>
                </a:solidFill>
                <a:latin typeface="Inter"/>
              </a:rPr>
              <a:t>Puan:</a:t>
            </a:r>
            <a:r>
              <a:rPr sz="1500" b="0" i="0" u="none" dirty="0">
                <a:solidFill>
                  <a:srgbClr val="F0F9FF"/>
                </a:solidFill>
                <a:latin typeface="Inter"/>
              </a:rPr>
              <a:t> </a:t>
            </a:r>
            <a:r>
              <a:rPr sz="1500" b="0" i="0" u="none" dirty="0" err="1">
                <a:solidFill>
                  <a:srgbClr val="F0F9FF"/>
                </a:solidFill>
                <a:latin typeface="Inter"/>
              </a:rPr>
              <a:t>Tamamlanan</a:t>
            </a:r>
            <a:r>
              <a:rPr sz="1500" b="0" i="0" u="none" dirty="0">
                <a:solidFill>
                  <a:srgbClr val="F0F9FF"/>
                </a:solidFill>
                <a:latin typeface="Inter"/>
              </a:rPr>
              <a:t> </a:t>
            </a:r>
            <a:r>
              <a:rPr sz="1500" b="0" i="0" u="none" dirty="0" err="1">
                <a:solidFill>
                  <a:srgbClr val="F0F9FF"/>
                </a:solidFill>
                <a:latin typeface="Inter"/>
              </a:rPr>
              <a:t>adımlar</a:t>
            </a:r>
            <a:r>
              <a:rPr sz="1500" b="0" i="0" u="none" dirty="0">
                <a:solidFill>
                  <a:srgbClr val="F0F9FF"/>
                </a:solidFill>
                <a:latin typeface="Inter"/>
              </a:rPr>
              <a:t> </a:t>
            </a:r>
            <a:r>
              <a:rPr sz="1500" b="0" i="0" u="none" dirty="0" err="1">
                <a:solidFill>
                  <a:srgbClr val="F0F9FF"/>
                </a:solidFill>
                <a:latin typeface="Inter"/>
              </a:rPr>
              <a:t>puana</a:t>
            </a:r>
            <a:r>
              <a:rPr sz="1500" b="0" i="0" u="none" dirty="0">
                <a:solidFill>
                  <a:srgbClr val="F0F9FF"/>
                </a:solidFill>
                <a:latin typeface="Inter"/>
              </a:rPr>
              <a:t> </a:t>
            </a:r>
            <a:r>
              <a:rPr sz="1500" b="0" i="0" u="none" dirty="0" err="1">
                <a:solidFill>
                  <a:srgbClr val="F0F9FF"/>
                </a:solidFill>
                <a:latin typeface="Inter"/>
              </a:rPr>
              <a:t>dönüşür</a:t>
            </a:r>
            <a:r>
              <a:rPr sz="1500" b="0" i="0" u="none" dirty="0">
                <a:solidFill>
                  <a:srgbClr val="F0F9FF"/>
                </a:solidFill>
                <a:latin typeface="Inter"/>
              </a:rPr>
              <a:t>.</a:t>
            </a:r>
          </a:p>
        </p:txBody>
      </p:sp>
      <p:sp>
        <p:nvSpPr>
          <p:cNvPr id="9" name="TextBox 8"/>
          <p:cNvSpPr txBox="1"/>
          <p:nvPr/>
        </p:nvSpPr>
        <p:spPr>
          <a:xfrm>
            <a:off x="742950" y="2803188"/>
            <a:ext cx="4810125" cy="914400"/>
          </a:xfrm>
          <a:prstGeom prst="rect">
            <a:avLst/>
          </a:prstGeom>
          <a:noFill/>
        </p:spPr>
        <p:txBody>
          <a:bodyPr wrap="square" lIns="0" tIns="0" rIns="0" bIns="0" anchor="t">
            <a:spAutoFit/>
          </a:bodyPr>
          <a:lstStyle/>
          <a:p>
            <a:pPr algn="l">
              <a:lnSpc>
                <a:spcPts val="2400"/>
              </a:lnSpc>
            </a:pPr>
            <a:r>
              <a:rPr sz="1500" b="1" i="0" u="none" dirty="0" err="1">
                <a:solidFill>
                  <a:srgbClr val="F0F9FF"/>
                </a:solidFill>
                <a:latin typeface="Inter"/>
              </a:rPr>
              <a:t>Ödül</a:t>
            </a:r>
            <a:r>
              <a:rPr sz="1500" b="1" i="0" u="none" dirty="0">
                <a:solidFill>
                  <a:srgbClr val="F0F9FF"/>
                </a:solidFill>
                <a:latin typeface="Inter"/>
              </a:rPr>
              <a:t> </a:t>
            </a:r>
            <a:r>
              <a:rPr sz="1500" b="1" i="0" u="none" dirty="0" err="1">
                <a:solidFill>
                  <a:srgbClr val="F0F9FF"/>
                </a:solidFill>
                <a:latin typeface="Inter"/>
              </a:rPr>
              <a:t>Hedefi</a:t>
            </a:r>
            <a:r>
              <a:rPr sz="1500" b="1" i="0" u="none" dirty="0">
                <a:solidFill>
                  <a:srgbClr val="F0F9FF"/>
                </a:solidFill>
                <a:latin typeface="Inter"/>
              </a:rPr>
              <a:t>:</a:t>
            </a:r>
            <a:r>
              <a:rPr sz="1500" b="0" i="0" u="none" dirty="0">
                <a:solidFill>
                  <a:srgbClr val="F0F9FF"/>
                </a:solidFill>
                <a:latin typeface="Inter"/>
              </a:rPr>
              <a:t> </a:t>
            </a:r>
            <a:r>
              <a:rPr sz="1500" b="0" i="0" u="none" dirty="0" err="1">
                <a:solidFill>
                  <a:srgbClr val="F0F9FF"/>
                </a:solidFill>
                <a:latin typeface="Inter"/>
              </a:rPr>
              <a:t>Yeşilay</a:t>
            </a:r>
            <a:r>
              <a:rPr sz="1500" b="0" i="0" u="none" dirty="0">
                <a:solidFill>
                  <a:srgbClr val="F0F9FF"/>
                </a:solidFill>
                <a:latin typeface="Inter"/>
              </a:rPr>
              <a:t> </a:t>
            </a:r>
            <a:r>
              <a:rPr sz="1500" b="0" i="0" u="none" dirty="0" err="1">
                <a:solidFill>
                  <a:srgbClr val="F0F9FF"/>
                </a:solidFill>
                <a:latin typeface="Inter"/>
              </a:rPr>
              <a:t>iş</a:t>
            </a:r>
            <a:r>
              <a:rPr sz="1500" b="0" i="0" u="none" dirty="0">
                <a:solidFill>
                  <a:srgbClr val="F0F9FF"/>
                </a:solidFill>
                <a:latin typeface="Inter"/>
              </a:rPr>
              <a:t> </a:t>
            </a:r>
            <a:r>
              <a:rPr sz="1500" b="0" i="0" u="none" dirty="0" err="1">
                <a:solidFill>
                  <a:srgbClr val="F0F9FF"/>
                </a:solidFill>
                <a:latin typeface="Inter"/>
              </a:rPr>
              <a:t>birliği</a:t>
            </a:r>
            <a:r>
              <a:rPr sz="1500" b="0" i="0" u="none" dirty="0">
                <a:solidFill>
                  <a:srgbClr val="F0F9FF"/>
                </a:solidFill>
                <a:latin typeface="Inter"/>
              </a:rPr>
              <a:t> </a:t>
            </a:r>
            <a:r>
              <a:rPr sz="1500" b="0" i="0" u="none" dirty="0" err="1">
                <a:solidFill>
                  <a:srgbClr val="F0F9FF"/>
                </a:solidFill>
                <a:latin typeface="Inter"/>
              </a:rPr>
              <a:t>ile</a:t>
            </a:r>
            <a:r>
              <a:rPr sz="1500" b="0" i="0" u="none" dirty="0">
                <a:solidFill>
                  <a:srgbClr val="F0F9FF"/>
                </a:solidFill>
                <a:latin typeface="Inter"/>
              </a:rPr>
              <a:t> </a:t>
            </a:r>
            <a:r>
              <a:rPr sz="1500" b="0" i="0" u="none" dirty="0" err="1">
                <a:solidFill>
                  <a:srgbClr val="F0F9FF"/>
                </a:solidFill>
                <a:latin typeface="Inter"/>
              </a:rPr>
              <a:t>somut</a:t>
            </a:r>
            <a:r>
              <a:rPr sz="1500" b="0" i="0" u="none" dirty="0">
                <a:solidFill>
                  <a:srgbClr val="F0F9FF"/>
                </a:solidFill>
                <a:latin typeface="Inter"/>
              </a:rPr>
              <a:t> </a:t>
            </a:r>
            <a:r>
              <a:rPr sz="1500" b="0" i="0" u="none" dirty="0" err="1">
                <a:solidFill>
                  <a:srgbClr val="F0F9FF"/>
                </a:solidFill>
                <a:latin typeface="Inter"/>
              </a:rPr>
              <a:t>teşvikler</a:t>
            </a:r>
            <a:r>
              <a:rPr sz="1500" b="0" i="0" u="none" dirty="0">
                <a:solidFill>
                  <a:srgbClr val="F0F9FF"/>
                </a:solidFill>
                <a:latin typeface="Inter"/>
              </a:rPr>
              <a:t> (</a:t>
            </a:r>
            <a:r>
              <a:rPr sz="1500" b="0" i="0" u="none" dirty="0" err="1">
                <a:solidFill>
                  <a:srgbClr val="F0F9FF"/>
                </a:solidFill>
                <a:latin typeface="Inter"/>
              </a:rPr>
              <a:t>matara</a:t>
            </a:r>
            <a:r>
              <a:rPr sz="1500" b="0" i="0" u="none" dirty="0">
                <a:solidFill>
                  <a:srgbClr val="F0F9FF"/>
                </a:solidFill>
                <a:latin typeface="Inter"/>
              </a:rPr>
              <a:t>, </a:t>
            </a:r>
            <a:r>
              <a:rPr sz="1500" b="0" i="0" u="none" dirty="0" err="1">
                <a:solidFill>
                  <a:srgbClr val="F0F9FF"/>
                </a:solidFill>
                <a:latin typeface="Inter"/>
              </a:rPr>
              <a:t>kitap</a:t>
            </a:r>
            <a:r>
              <a:rPr sz="1500" b="0" i="0" u="none" dirty="0">
                <a:solidFill>
                  <a:srgbClr val="F0F9FF"/>
                </a:solidFill>
                <a:latin typeface="Inter"/>
              </a:rPr>
              <a:t>, </a:t>
            </a:r>
            <a:r>
              <a:rPr sz="1500" b="0" i="0" u="none" dirty="0" err="1">
                <a:solidFill>
                  <a:srgbClr val="F0F9FF"/>
                </a:solidFill>
                <a:latin typeface="Inter"/>
              </a:rPr>
              <a:t>kumbara</a:t>
            </a:r>
            <a:r>
              <a:rPr sz="1500" b="0" i="0" u="none" dirty="0">
                <a:solidFill>
                  <a:srgbClr val="F0F9FF"/>
                </a:solidFill>
                <a:latin typeface="Inter"/>
              </a:rPr>
              <a:t>, masa </a:t>
            </a:r>
            <a:r>
              <a:rPr sz="1500" b="0" i="0" u="none" dirty="0" err="1">
                <a:solidFill>
                  <a:srgbClr val="F0F9FF"/>
                </a:solidFill>
                <a:latin typeface="Inter"/>
              </a:rPr>
              <a:t>saati</a:t>
            </a:r>
            <a:r>
              <a:rPr sz="1500" b="0" i="0" u="none" dirty="0">
                <a:solidFill>
                  <a:srgbClr val="F0F9FF"/>
                </a:solidFill>
                <a:latin typeface="Inter"/>
              </a:rPr>
              <a:t>, </a:t>
            </a:r>
            <a:r>
              <a:rPr sz="1500" b="0" i="0" u="none" dirty="0" err="1">
                <a:solidFill>
                  <a:srgbClr val="F0F9FF"/>
                </a:solidFill>
                <a:latin typeface="Inter"/>
              </a:rPr>
              <a:t>termos</a:t>
            </a:r>
            <a:r>
              <a:rPr sz="1500" b="0" i="0" u="none" dirty="0">
                <a:solidFill>
                  <a:srgbClr val="F0F9FF"/>
                </a:solidFill>
                <a:latin typeface="Inter"/>
              </a:rPr>
              <a:t>, </a:t>
            </a:r>
            <a:r>
              <a:rPr sz="1500" b="0" i="0" u="none" dirty="0" err="1">
                <a:solidFill>
                  <a:srgbClr val="F0F9FF"/>
                </a:solidFill>
                <a:latin typeface="Inter"/>
              </a:rPr>
              <a:t>tabak</a:t>
            </a:r>
            <a:r>
              <a:rPr sz="1500" b="0" i="0" u="none" dirty="0">
                <a:solidFill>
                  <a:srgbClr val="F0F9FF"/>
                </a:solidFill>
                <a:latin typeface="Inter"/>
              </a:rPr>
              <a:t> </a:t>
            </a:r>
            <a:r>
              <a:rPr sz="1500" b="0" i="0" u="none" dirty="0" err="1">
                <a:solidFill>
                  <a:srgbClr val="F0F9FF"/>
                </a:solidFill>
                <a:latin typeface="Inter"/>
              </a:rPr>
              <a:t>takımı</a:t>
            </a:r>
            <a:r>
              <a:rPr sz="1500" b="0" i="0" u="none" dirty="0">
                <a:solidFill>
                  <a:srgbClr val="F0F9FF"/>
                </a:solidFill>
                <a:latin typeface="Inter"/>
              </a:rPr>
              <a:t>).</a:t>
            </a:r>
          </a:p>
        </p:txBody>
      </p:sp>
      <p:pic>
        <p:nvPicPr>
          <p:cNvPr id="16" name="Resim 15">
            <a:extLst>
              <a:ext uri="{FF2B5EF4-FFF2-40B4-BE49-F238E27FC236}">
                <a16:creationId xmlns:a16="http://schemas.microsoft.com/office/drawing/2014/main" id="{4281F6CF-9DB8-691E-D414-CB720C8D7543}"/>
              </a:ext>
            </a:extLst>
          </p:cNvPr>
          <p:cNvPicPr>
            <a:picLocks noChangeAspect="1"/>
          </p:cNvPicPr>
          <p:nvPr/>
        </p:nvPicPr>
        <p:blipFill>
          <a:blip r:embed="rId3"/>
          <a:stretch>
            <a:fillRect/>
          </a:stretch>
        </p:blipFill>
        <p:spPr>
          <a:xfrm>
            <a:off x="7077776" y="1456544"/>
            <a:ext cx="4463332" cy="3031963"/>
          </a:xfrm>
          <a:prstGeom prst="rect">
            <a:avLst/>
          </a:prstGeom>
        </p:spPr>
      </p:pic>
      <p:pic>
        <p:nvPicPr>
          <p:cNvPr id="18" name="Resim 17">
            <a:extLst>
              <a:ext uri="{FF2B5EF4-FFF2-40B4-BE49-F238E27FC236}">
                <a16:creationId xmlns:a16="http://schemas.microsoft.com/office/drawing/2014/main" id="{61204930-818A-B251-7899-2C97A74D832F}"/>
              </a:ext>
            </a:extLst>
          </p:cNvPr>
          <p:cNvPicPr>
            <a:picLocks noChangeAspect="1"/>
          </p:cNvPicPr>
          <p:nvPr/>
        </p:nvPicPr>
        <p:blipFill>
          <a:blip r:embed="rId4"/>
          <a:stretch>
            <a:fillRect/>
          </a:stretch>
        </p:blipFill>
        <p:spPr>
          <a:xfrm>
            <a:off x="1214498" y="3667132"/>
            <a:ext cx="4449997" cy="30229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5" name="TextBox 4"/>
          <p:cNvSpPr txBox="1"/>
          <p:nvPr/>
        </p:nvSpPr>
        <p:spPr>
          <a:xfrm>
            <a:off x="141684" y="504899"/>
            <a:ext cx="11601450" cy="571500"/>
          </a:xfrm>
          <a:prstGeom prst="rect">
            <a:avLst/>
          </a:prstGeom>
          <a:noFill/>
        </p:spPr>
        <p:txBody>
          <a:bodyPr wrap="square" lIns="0" tIns="0" rIns="0" bIns="0" anchor="t">
            <a:spAutoFit/>
          </a:bodyPr>
          <a:lstStyle/>
          <a:p>
            <a:pPr algn="l"/>
            <a:r>
              <a:rPr sz="3000" b="1" i="0" u="none" dirty="0">
                <a:solidFill>
                  <a:srgbClr val="38BDF8"/>
                </a:solidFill>
                <a:latin typeface="Poppins"/>
              </a:rPr>
              <a:t>Yapay Zeka </a:t>
            </a:r>
            <a:r>
              <a:rPr sz="3000" b="1" i="0" u="none" dirty="0" err="1">
                <a:solidFill>
                  <a:srgbClr val="38BDF8"/>
                </a:solidFill>
                <a:latin typeface="Poppins"/>
              </a:rPr>
              <a:t>ve</a:t>
            </a:r>
            <a:r>
              <a:rPr sz="3000" b="1" i="0" u="none" dirty="0">
                <a:solidFill>
                  <a:srgbClr val="38BDF8"/>
                </a:solidFill>
                <a:latin typeface="Poppins"/>
              </a:rPr>
              <a:t> Chatbot (GenAI)</a:t>
            </a:r>
          </a:p>
        </p:txBody>
      </p:sp>
      <p:sp>
        <p:nvSpPr>
          <p:cNvPr id="6" name="TextBox 5"/>
          <p:cNvSpPr txBox="1"/>
          <p:nvPr/>
        </p:nvSpPr>
        <p:spPr>
          <a:xfrm>
            <a:off x="479181" y="1752600"/>
            <a:ext cx="5550693" cy="333375"/>
          </a:xfrm>
          <a:prstGeom prst="rect">
            <a:avLst/>
          </a:prstGeom>
          <a:noFill/>
        </p:spPr>
        <p:txBody>
          <a:bodyPr wrap="square" lIns="0" tIns="0" rIns="0" bIns="0" anchor="t">
            <a:spAutoFit/>
          </a:bodyPr>
          <a:lstStyle/>
          <a:p>
            <a:pPr algn="l"/>
            <a:r>
              <a:rPr sz="1800" b="1" i="0" u="none" dirty="0">
                <a:solidFill>
                  <a:srgbClr val="38BDF8"/>
                </a:solidFill>
                <a:latin typeface="Poppins"/>
              </a:rPr>
              <a:t>GenAI </a:t>
            </a:r>
            <a:r>
              <a:rPr sz="1800" b="1" i="0" u="none" dirty="0" err="1">
                <a:solidFill>
                  <a:srgbClr val="38BDF8"/>
                </a:solidFill>
                <a:latin typeface="Poppins"/>
              </a:rPr>
              <a:t>Kullanımı</a:t>
            </a:r>
            <a:r>
              <a:rPr sz="1800" b="1" i="0" u="none" dirty="0">
                <a:solidFill>
                  <a:srgbClr val="38BDF8"/>
                </a:solidFill>
                <a:latin typeface="Poppins"/>
              </a:rPr>
              <a:t>:</a:t>
            </a:r>
          </a:p>
        </p:txBody>
      </p:sp>
      <p:sp>
        <p:nvSpPr>
          <p:cNvPr id="7" name="TextBox 6"/>
          <p:cNvSpPr txBox="1"/>
          <p:nvPr/>
        </p:nvSpPr>
        <p:spPr>
          <a:xfrm>
            <a:off x="1000125" y="2276475"/>
            <a:ext cx="4857750" cy="609600"/>
          </a:xfrm>
          <a:prstGeom prst="rect">
            <a:avLst/>
          </a:prstGeom>
          <a:noFill/>
        </p:spPr>
        <p:txBody>
          <a:bodyPr wrap="square" lIns="0" tIns="0" rIns="0" bIns="0" anchor="t">
            <a:spAutoFit/>
          </a:bodyPr>
          <a:lstStyle/>
          <a:p>
            <a:pPr algn="l">
              <a:lnSpc>
                <a:spcPts val="2400"/>
              </a:lnSpc>
            </a:pPr>
            <a:r>
              <a:rPr sz="1500" b="0" i="0" u="none" dirty="0">
                <a:solidFill>
                  <a:srgbClr val="F0F9FF"/>
                </a:solidFill>
                <a:latin typeface="Inter"/>
              </a:rPr>
              <a:t>Chatbot </a:t>
            </a:r>
            <a:r>
              <a:rPr sz="1500" b="0" i="0" u="none" dirty="0" err="1">
                <a:solidFill>
                  <a:srgbClr val="F0F9FF"/>
                </a:solidFill>
                <a:latin typeface="Inter"/>
              </a:rPr>
              <a:t>ve</a:t>
            </a:r>
            <a:r>
              <a:rPr sz="1500" b="0" i="0" u="none" dirty="0">
                <a:solidFill>
                  <a:srgbClr val="F0F9FF"/>
                </a:solidFill>
                <a:latin typeface="Inter"/>
              </a:rPr>
              <a:t> </a:t>
            </a:r>
            <a:r>
              <a:rPr sz="1500" b="0" i="0" u="none" dirty="0" err="1">
                <a:solidFill>
                  <a:srgbClr val="F0F9FF"/>
                </a:solidFill>
                <a:latin typeface="Inter"/>
              </a:rPr>
              <a:t>Yansıma</a:t>
            </a:r>
            <a:r>
              <a:rPr sz="1500" b="0" i="0" u="none" dirty="0">
                <a:solidFill>
                  <a:srgbClr val="F0F9FF"/>
                </a:solidFill>
                <a:latin typeface="Inter"/>
              </a:rPr>
              <a:t> </a:t>
            </a:r>
            <a:r>
              <a:rPr sz="1500" b="0" i="0" u="none" dirty="0" err="1">
                <a:solidFill>
                  <a:srgbClr val="F0F9FF"/>
                </a:solidFill>
                <a:latin typeface="Inter"/>
              </a:rPr>
              <a:t>Koçu</a:t>
            </a:r>
            <a:r>
              <a:rPr sz="1500" b="0" i="0" u="none" dirty="0">
                <a:solidFill>
                  <a:srgbClr val="F0F9FF"/>
                </a:solidFill>
                <a:latin typeface="Inter"/>
              </a:rPr>
              <a:t> </a:t>
            </a:r>
            <a:r>
              <a:rPr sz="1500" b="0" i="0" u="none" dirty="0" err="1">
                <a:solidFill>
                  <a:srgbClr val="F0F9FF"/>
                </a:solidFill>
                <a:latin typeface="Inter"/>
              </a:rPr>
              <a:t>katmanında</a:t>
            </a:r>
            <a:r>
              <a:rPr sz="1500" b="0" i="0" u="none" dirty="0">
                <a:solidFill>
                  <a:srgbClr val="F0F9FF"/>
                </a:solidFill>
                <a:latin typeface="Inter"/>
              </a:rPr>
              <a:t> </a:t>
            </a:r>
            <a:r>
              <a:rPr sz="1500" b="0" i="0" u="none" dirty="0" err="1">
                <a:solidFill>
                  <a:srgbClr val="F0F9FF"/>
                </a:solidFill>
                <a:latin typeface="Inter"/>
              </a:rPr>
              <a:t>anlamlı</a:t>
            </a:r>
            <a:r>
              <a:rPr sz="1500" b="0" i="0" u="none" dirty="0">
                <a:solidFill>
                  <a:srgbClr val="F0F9FF"/>
                </a:solidFill>
                <a:latin typeface="Inter"/>
              </a:rPr>
              <a:t> </a:t>
            </a:r>
            <a:r>
              <a:rPr sz="1500" b="0" i="0" u="none" dirty="0" err="1">
                <a:solidFill>
                  <a:srgbClr val="F0F9FF"/>
                </a:solidFill>
                <a:latin typeface="Inter"/>
              </a:rPr>
              <a:t>rol</a:t>
            </a:r>
            <a:r>
              <a:rPr sz="1500" b="0" i="0" u="none" dirty="0">
                <a:solidFill>
                  <a:srgbClr val="F0F9FF"/>
                </a:solidFill>
                <a:latin typeface="Inter"/>
              </a:rPr>
              <a:t> </a:t>
            </a:r>
            <a:r>
              <a:rPr sz="1500" b="0" i="0" u="none" dirty="0" err="1">
                <a:solidFill>
                  <a:srgbClr val="F0F9FF"/>
                </a:solidFill>
                <a:latin typeface="Inter"/>
              </a:rPr>
              <a:t>üstlenir</a:t>
            </a:r>
            <a:r>
              <a:rPr sz="1500" b="0" i="0" u="none" dirty="0">
                <a:solidFill>
                  <a:srgbClr val="F0F9FF"/>
                </a:solidFill>
                <a:latin typeface="Inter"/>
              </a:rPr>
              <a:t>.</a:t>
            </a:r>
          </a:p>
        </p:txBody>
      </p:sp>
      <p:sp>
        <p:nvSpPr>
          <p:cNvPr id="8" name="TextBox 7"/>
          <p:cNvSpPr txBox="1"/>
          <p:nvPr/>
        </p:nvSpPr>
        <p:spPr>
          <a:xfrm>
            <a:off x="1000125" y="2990849"/>
            <a:ext cx="4857750" cy="609600"/>
          </a:xfrm>
          <a:prstGeom prst="rect">
            <a:avLst/>
          </a:prstGeom>
          <a:noFill/>
        </p:spPr>
        <p:txBody>
          <a:bodyPr wrap="square" lIns="0" tIns="0" rIns="0" bIns="0" anchor="t">
            <a:spAutoFit/>
          </a:bodyPr>
          <a:lstStyle/>
          <a:p>
            <a:pPr algn="l">
              <a:lnSpc>
                <a:spcPts val="2400"/>
              </a:lnSpc>
            </a:pPr>
            <a:r>
              <a:rPr sz="1500" b="0" i="0" u="none" dirty="0" err="1">
                <a:solidFill>
                  <a:srgbClr val="F0F9FF"/>
                </a:solidFill>
                <a:latin typeface="Inter"/>
              </a:rPr>
              <a:t>Kullanıcının</a:t>
            </a:r>
            <a:r>
              <a:rPr sz="1500" b="0" i="0" u="none" dirty="0">
                <a:solidFill>
                  <a:srgbClr val="F0F9FF"/>
                </a:solidFill>
                <a:latin typeface="Inter"/>
              </a:rPr>
              <a:t> </a:t>
            </a:r>
            <a:r>
              <a:rPr sz="1500" b="0" i="0" u="none" dirty="0" err="1">
                <a:solidFill>
                  <a:srgbClr val="F0F9FF"/>
                </a:solidFill>
                <a:latin typeface="Inter"/>
              </a:rPr>
              <a:t>sorusuna</a:t>
            </a:r>
            <a:r>
              <a:rPr sz="1500" b="0" i="0" u="none" dirty="0">
                <a:solidFill>
                  <a:srgbClr val="F0F9FF"/>
                </a:solidFill>
                <a:latin typeface="Inter"/>
              </a:rPr>
              <a:t> </a:t>
            </a:r>
            <a:r>
              <a:rPr sz="1500" b="0" i="0" u="none" dirty="0" err="1">
                <a:solidFill>
                  <a:srgbClr val="F0F9FF"/>
                </a:solidFill>
                <a:latin typeface="Inter"/>
              </a:rPr>
              <a:t>ve</a:t>
            </a:r>
            <a:r>
              <a:rPr sz="1500" b="0" i="0" u="none" dirty="0">
                <a:solidFill>
                  <a:srgbClr val="F0F9FF"/>
                </a:solidFill>
                <a:latin typeface="Inter"/>
              </a:rPr>
              <a:t> </a:t>
            </a:r>
            <a:r>
              <a:rPr sz="1500" b="0" i="0" u="none" dirty="0" err="1">
                <a:solidFill>
                  <a:srgbClr val="F0F9FF"/>
                </a:solidFill>
                <a:latin typeface="Inter"/>
              </a:rPr>
              <a:t>bağlamına</a:t>
            </a:r>
            <a:r>
              <a:rPr sz="1500" b="0" i="0" u="none" dirty="0">
                <a:solidFill>
                  <a:srgbClr val="F0F9FF"/>
                </a:solidFill>
                <a:latin typeface="Inter"/>
              </a:rPr>
              <a:t> </a:t>
            </a:r>
            <a:r>
              <a:rPr sz="1500" b="0" i="0" u="none" dirty="0" err="1">
                <a:solidFill>
                  <a:srgbClr val="F0F9FF"/>
                </a:solidFill>
                <a:latin typeface="Inter"/>
              </a:rPr>
              <a:t>göre</a:t>
            </a:r>
            <a:r>
              <a:rPr sz="1500" b="0" i="0" u="none" dirty="0">
                <a:solidFill>
                  <a:srgbClr val="F0F9FF"/>
                </a:solidFill>
                <a:latin typeface="Inter"/>
              </a:rPr>
              <a:t> </a:t>
            </a:r>
            <a:r>
              <a:rPr sz="1500" b="0" i="0" u="none" dirty="0" err="1">
                <a:solidFill>
                  <a:srgbClr val="F0F9FF"/>
                </a:solidFill>
                <a:latin typeface="Inter"/>
              </a:rPr>
              <a:t>açıklama</a:t>
            </a:r>
            <a:r>
              <a:rPr sz="1500" b="0" i="0" u="none" dirty="0">
                <a:solidFill>
                  <a:srgbClr val="F0F9FF"/>
                </a:solidFill>
                <a:latin typeface="Inter"/>
              </a:rPr>
              <a:t>, </a:t>
            </a:r>
            <a:r>
              <a:rPr sz="1500" b="0" i="0" u="none" dirty="0" err="1">
                <a:solidFill>
                  <a:srgbClr val="F0F9FF"/>
                </a:solidFill>
                <a:latin typeface="Inter"/>
              </a:rPr>
              <a:t>farkındalık</a:t>
            </a:r>
            <a:r>
              <a:rPr sz="1500" b="0" i="0" u="none" dirty="0">
                <a:solidFill>
                  <a:srgbClr val="F0F9FF"/>
                </a:solidFill>
                <a:latin typeface="Inter"/>
              </a:rPr>
              <a:t> </a:t>
            </a:r>
            <a:r>
              <a:rPr sz="1500" b="0" i="0" u="none" dirty="0" err="1">
                <a:solidFill>
                  <a:srgbClr val="F0F9FF"/>
                </a:solidFill>
                <a:latin typeface="Inter"/>
              </a:rPr>
              <a:t>soruları</a:t>
            </a:r>
            <a:r>
              <a:rPr sz="1500" b="0" i="0" u="none" dirty="0">
                <a:solidFill>
                  <a:srgbClr val="F0F9FF"/>
                </a:solidFill>
                <a:latin typeface="Inter"/>
              </a:rPr>
              <a:t> </a:t>
            </a:r>
            <a:r>
              <a:rPr sz="1500" b="0" i="0" u="none" dirty="0" err="1">
                <a:solidFill>
                  <a:srgbClr val="F0F9FF"/>
                </a:solidFill>
                <a:latin typeface="Inter"/>
              </a:rPr>
              <a:t>ve</a:t>
            </a:r>
            <a:r>
              <a:rPr sz="1500" b="0" i="0" u="none" dirty="0">
                <a:solidFill>
                  <a:srgbClr val="F0F9FF"/>
                </a:solidFill>
                <a:latin typeface="Inter"/>
              </a:rPr>
              <a:t> </a:t>
            </a:r>
            <a:r>
              <a:rPr sz="1500" b="0" i="0" u="none" dirty="0" err="1">
                <a:solidFill>
                  <a:srgbClr val="F0F9FF"/>
                </a:solidFill>
                <a:latin typeface="Inter"/>
              </a:rPr>
              <a:t>öneriler</a:t>
            </a:r>
            <a:r>
              <a:rPr sz="1500" b="0" i="0" u="none" dirty="0">
                <a:solidFill>
                  <a:srgbClr val="F0F9FF"/>
                </a:solidFill>
                <a:latin typeface="Inter"/>
              </a:rPr>
              <a:t> </a:t>
            </a:r>
            <a:r>
              <a:rPr sz="1500" b="0" i="0" u="none" dirty="0" err="1">
                <a:solidFill>
                  <a:srgbClr val="F0F9FF"/>
                </a:solidFill>
                <a:latin typeface="Inter"/>
              </a:rPr>
              <a:t>üretir</a:t>
            </a:r>
            <a:r>
              <a:rPr sz="1500" b="0" i="0" u="none" dirty="0">
                <a:solidFill>
                  <a:srgbClr val="F0F9FF"/>
                </a:solidFill>
                <a:latin typeface="Inter"/>
              </a:rPr>
              <a:t>.</a:t>
            </a:r>
          </a:p>
        </p:txBody>
      </p:sp>
      <p:sp>
        <p:nvSpPr>
          <p:cNvPr id="9" name="TextBox 8"/>
          <p:cNvSpPr txBox="1"/>
          <p:nvPr/>
        </p:nvSpPr>
        <p:spPr>
          <a:xfrm>
            <a:off x="1000125" y="3790949"/>
            <a:ext cx="4857750" cy="609600"/>
          </a:xfrm>
          <a:prstGeom prst="rect">
            <a:avLst/>
          </a:prstGeom>
          <a:noFill/>
        </p:spPr>
        <p:txBody>
          <a:bodyPr wrap="square" lIns="0" tIns="0" rIns="0" bIns="0" anchor="t">
            <a:spAutoFit/>
          </a:bodyPr>
          <a:lstStyle/>
          <a:p>
            <a:pPr algn="l">
              <a:lnSpc>
                <a:spcPts val="2400"/>
              </a:lnSpc>
            </a:pPr>
            <a:r>
              <a:rPr sz="1500" b="0" i="0" u="none" dirty="0" err="1">
                <a:solidFill>
                  <a:srgbClr val="F0F9FF"/>
                </a:solidFill>
                <a:latin typeface="Inter"/>
              </a:rPr>
              <a:t>Yargılayıcı</a:t>
            </a:r>
            <a:r>
              <a:rPr sz="1500" b="0" i="0" u="none" dirty="0">
                <a:solidFill>
                  <a:srgbClr val="F0F9FF"/>
                </a:solidFill>
                <a:latin typeface="Inter"/>
              </a:rPr>
              <a:t> </a:t>
            </a:r>
            <a:r>
              <a:rPr sz="1500" b="0" i="0" u="none" dirty="0" err="1">
                <a:solidFill>
                  <a:srgbClr val="F0F9FF"/>
                </a:solidFill>
                <a:latin typeface="Inter"/>
              </a:rPr>
              <a:t>olmayan</a:t>
            </a:r>
            <a:r>
              <a:rPr sz="1500" b="0" i="0" u="none" dirty="0">
                <a:solidFill>
                  <a:srgbClr val="F0F9FF"/>
                </a:solidFill>
                <a:latin typeface="Inter"/>
              </a:rPr>
              <a:t> ton, </a:t>
            </a:r>
            <a:r>
              <a:rPr sz="1500" b="0" i="0" u="none" dirty="0" err="1">
                <a:solidFill>
                  <a:srgbClr val="F0F9FF"/>
                </a:solidFill>
                <a:latin typeface="Inter"/>
              </a:rPr>
              <a:t>tıbbi</a:t>
            </a:r>
            <a:r>
              <a:rPr sz="1500" b="0" i="0" u="none" dirty="0">
                <a:solidFill>
                  <a:srgbClr val="F0F9FF"/>
                </a:solidFill>
                <a:latin typeface="Inter"/>
              </a:rPr>
              <a:t> </a:t>
            </a:r>
            <a:r>
              <a:rPr sz="1500" b="0" i="0" u="none" dirty="0" err="1">
                <a:solidFill>
                  <a:srgbClr val="F0F9FF"/>
                </a:solidFill>
                <a:latin typeface="Inter"/>
              </a:rPr>
              <a:t>tanı</a:t>
            </a:r>
            <a:r>
              <a:rPr sz="1500" b="0" i="0" u="none" dirty="0">
                <a:solidFill>
                  <a:srgbClr val="F0F9FF"/>
                </a:solidFill>
                <a:latin typeface="Inter"/>
              </a:rPr>
              <a:t> </a:t>
            </a:r>
            <a:r>
              <a:rPr sz="1500" b="0" i="0" u="none" dirty="0" err="1">
                <a:solidFill>
                  <a:srgbClr val="F0F9FF"/>
                </a:solidFill>
                <a:latin typeface="Inter"/>
              </a:rPr>
              <a:t>koymama</a:t>
            </a:r>
            <a:r>
              <a:rPr sz="1500" b="0" i="0" u="none" dirty="0">
                <a:solidFill>
                  <a:srgbClr val="F0F9FF"/>
                </a:solidFill>
                <a:latin typeface="Inter"/>
              </a:rPr>
              <a:t>, </a:t>
            </a:r>
            <a:r>
              <a:rPr sz="1500" b="0" i="0" u="none" dirty="0" err="1">
                <a:solidFill>
                  <a:srgbClr val="F0F9FF"/>
                </a:solidFill>
                <a:latin typeface="Inter"/>
              </a:rPr>
              <a:t>kısa</a:t>
            </a:r>
            <a:r>
              <a:rPr sz="1500" b="0" i="0" u="none" dirty="0">
                <a:solidFill>
                  <a:srgbClr val="F0F9FF"/>
                </a:solidFill>
                <a:latin typeface="Inter"/>
              </a:rPr>
              <a:t> </a:t>
            </a:r>
            <a:r>
              <a:rPr sz="1500" b="0" i="0" u="none" dirty="0" err="1">
                <a:solidFill>
                  <a:srgbClr val="F0F9FF"/>
                </a:solidFill>
                <a:latin typeface="Inter"/>
              </a:rPr>
              <a:t>ve</a:t>
            </a:r>
            <a:r>
              <a:rPr sz="1500" b="0" i="0" u="none" dirty="0">
                <a:solidFill>
                  <a:srgbClr val="F0F9FF"/>
                </a:solidFill>
                <a:latin typeface="Inter"/>
              </a:rPr>
              <a:t> </a:t>
            </a:r>
            <a:r>
              <a:rPr sz="1500" b="0" i="0" u="none" dirty="0" err="1">
                <a:solidFill>
                  <a:srgbClr val="F0F9FF"/>
                </a:solidFill>
                <a:latin typeface="Inter"/>
              </a:rPr>
              <a:t>uygulanabilir</a:t>
            </a:r>
            <a:r>
              <a:rPr sz="1500" b="0" i="0" u="none" dirty="0">
                <a:solidFill>
                  <a:srgbClr val="F0F9FF"/>
                </a:solidFill>
                <a:latin typeface="Inter"/>
              </a:rPr>
              <a:t> </a:t>
            </a:r>
            <a:r>
              <a:rPr sz="1500" b="0" i="0" u="none" dirty="0" err="1">
                <a:solidFill>
                  <a:srgbClr val="F0F9FF"/>
                </a:solidFill>
                <a:latin typeface="Inter"/>
              </a:rPr>
              <a:t>öneriler</a:t>
            </a:r>
            <a:r>
              <a:rPr sz="1500" b="0" i="0" u="none" dirty="0">
                <a:solidFill>
                  <a:srgbClr val="F0F9FF"/>
                </a:solidFill>
                <a:latin typeface="Inter"/>
              </a:rPr>
              <a:t>.</a:t>
            </a:r>
          </a:p>
        </p:txBody>
      </p:sp>
      <p:pic>
        <p:nvPicPr>
          <p:cNvPr id="12" name="Picture 11" descr="image.png"/>
          <p:cNvPicPr>
            <a:picLocks noChangeAspect="1"/>
          </p:cNvPicPr>
          <p:nvPr/>
        </p:nvPicPr>
        <p:blipFill>
          <a:blip r:embed="rId3"/>
          <a:stretch>
            <a:fillRect/>
          </a:stretch>
        </p:blipFill>
        <p:spPr>
          <a:xfrm>
            <a:off x="587829" y="2387649"/>
            <a:ext cx="228600" cy="247650"/>
          </a:xfrm>
          <a:prstGeom prst="rect">
            <a:avLst/>
          </a:prstGeom>
        </p:spPr>
      </p:pic>
      <p:pic>
        <p:nvPicPr>
          <p:cNvPr id="13" name="Picture 12" descr="image.png"/>
          <p:cNvPicPr>
            <a:picLocks noChangeAspect="1"/>
          </p:cNvPicPr>
          <p:nvPr/>
        </p:nvPicPr>
        <p:blipFill>
          <a:blip r:embed="rId4"/>
          <a:stretch>
            <a:fillRect/>
          </a:stretch>
        </p:blipFill>
        <p:spPr>
          <a:xfrm>
            <a:off x="590550" y="3171824"/>
            <a:ext cx="228600" cy="247650"/>
          </a:xfrm>
          <a:prstGeom prst="rect">
            <a:avLst/>
          </a:prstGeom>
        </p:spPr>
      </p:pic>
      <p:pic>
        <p:nvPicPr>
          <p:cNvPr id="14" name="Picture 13" descr="image.png"/>
          <p:cNvPicPr>
            <a:picLocks noChangeAspect="1"/>
          </p:cNvPicPr>
          <p:nvPr/>
        </p:nvPicPr>
        <p:blipFill>
          <a:blip r:embed="rId5"/>
          <a:stretch>
            <a:fillRect/>
          </a:stretch>
        </p:blipFill>
        <p:spPr>
          <a:xfrm>
            <a:off x="590550" y="4019550"/>
            <a:ext cx="228600" cy="247650"/>
          </a:xfrm>
          <a:prstGeom prst="rect">
            <a:avLst/>
          </a:prstGeom>
        </p:spPr>
      </p:pic>
      <p:pic>
        <p:nvPicPr>
          <p:cNvPr id="16" name="Resim 15">
            <a:extLst>
              <a:ext uri="{FF2B5EF4-FFF2-40B4-BE49-F238E27FC236}">
                <a16:creationId xmlns:a16="http://schemas.microsoft.com/office/drawing/2014/main" id="{D0C40B95-EF53-D6B2-D1A0-057B378FBD87}"/>
              </a:ext>
            </a:extLst>
          </p:cNvPr>
          <p:cNvPicPr>
            <a:picLocks noChangeAspect="1"/>
          </p:cNvPicPr>
          <p:nvPr/>
        </p:nvPicPr>
        <p:blipFill>
          <a:blip r:embed="rId6"/>
          <a:stretch>
            <a:fillRect/>
          </a:stretch>
        </p:blipFill>
        <p:spPr>
          <a:xfrm>
            <a:off x="7102404" y="447978"/>
            <a:ext cx="4514171" cy="3066499"/>
          </a:xfrm>
          <a:prstGeom prst="rect">
            <a:avLst/>
          </a:prstGeom>
        </p:spPr>
      </p:pic>
      <p:pic>
        <p:nvPicPr>
          <p:cNvPr id="18" name="Resim 17">
            <a:extLst>
              <a:ext uri="{FF2B5EF4-FFF2-40B4-BE49-F238E27FC236}">
                <a16:creationId xmlns:a16="http://schemas.microsoft.com/office/drawing/2014/main" id="{479389C7-68E4-A6B1-7402-A6BEA7B9856C}"/>
              </a:ext>
            </a:extLst>
          </p:cNvPr>
          <p:cNvPicPr>
            <a:picLocks noChangeAspect="1"/>
          </p:cNvPicPr>
          <p:nvPr/>
        </p:nvPicPr>
        <p:blipFill>
          <a:blip r:embed="rId7"/>
          <a:stretch>
            <a:fillRect/>
          </a:stretch>
        </p:blipFill>
        <p:spPr>
          <a:xfrm>
            <a:off x="7456105" y="3893259"/>
            <a:ext cx="4057384" cy="27562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610987-EC78-6283-1BB1-80B924E9DE69}"/>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86FA6206-2DC9-541C-4AB6-34058D00FFDB}"/>
              </a:ext>
            </a:extLst>
          </p:cNvPr>
          <p:cNvPicPr>
            <a:picLocks noChangeAspect="1"/>
          </p:cNvPicPr>
          <p:nvPr/>
        </p:nvPicPr>
        <p:blipFill>
          <a:blip r:embed="rId2"/>
          <a:stretch>
            <a:fillRect/>
          </a:stretch>
        </p:blipFill>
        <p:spPr>
          <a:xfrm>
            <a:off x="0" y="0"/>
            <a:ext cx="12192000" cy="6858000"/>
          </a:xfrm>
          <a:prstGeom prst="rect">
            <a:avLst/>
          </a:prstGeom>
        </p:spPr>
      </p:pic>
      <p:sp>
        <p:nvSpPr>
          <p:cNvPr id="18" name="Metin kutusu 17">
            <a:extLst>
              <a:ext uri="{FF2B5EF4-FFF2-40B4-BE49-F238E27FC236}">
                <a16:creationId xmlns:a16="http://schemas.microsoft.com/office/drawing/2014/main" id="{A264B885-F413-82E7-D51B-B87C69935FCA}"/>
              </a:ext>
            </a:extLst>
          </p:cNvPr>
          <p:cNvSpPr txBox="1"/>
          <p:nvPr/>
        </p:nvSpPr>
        <p:spPr>
          <a:xfrm>
            <a:off x="370114" y="272143"/>
            <a:ext cx="11451771" cy="6313713"/>
          </a:xfrm>
          <a:prstGeom prst="rect">
            <a:avLst/>
          </a:prstGeom>
          <a:noFill/>
        </p:spPr>
        <p:txBody>
          <a:bodyPr wrap="square" rtlCol="0">
            <a:spAutoFit/>
          </a:bodyPr>
          <a:lstStyle/>
          <a:p>
            <a:endParaRPr lang="tr-TR" dirty="0"/>
          </a:p>
        </p:txBody>
      </p:sp>
      <p:sp>
        <p:nvSpPr>
          <p:cNvPr id="20" name="Metin kutusu 19">
            <a:extLst>
              <a:ext uri="{FF2B5EF4-FFF2-40B4-BE49-F238E27FC236}">
                <a16:creationId xmlns:a16="http://schemas.microsoft.com/office/drawing/2014/main" id="{32A7ABEF-B5D9-F281-2986-7BDB2CF400E9}"/>
              </a:ext>
            </a:extLst>
          </p:cNvPr>
          <p:cNvSpPr txBox="1"/>
          <p:nvPr/>
        </p:nvSpPr>
        <p:spPr>
          <a:xfrm>
            <a:off x="370114" y="920620"/>
            <a:ext cx="10667999" cy="4524315"/>
          </a:xfrm>
          <a:prstGeom prst="rect">
            <a:avLst/>
          </a:prstGeom>
          <a:noFill/>
        </p:spPr>
        <p:txBody>
          <a:bodyPr wrap="square">
            <a:spAutoFit/>
          </a:bodyPr>
          <a:lstStyle/>
          <a:p>
            <a:pPr marL="342900" indent="-342900">
              <a:buAutoNum type="arabicParenR"/>
            </a:pPr>
            <a:r>
              <a:rPr lang="tr-TR" sz="1600" b="1" dirty="0">
                <a:solidFill>
                  <a:schemeClr val="bg1"/>
                </a:solidFill>
              </a:rPr>
              <a:t>Yapay Zekâya veri nasıl gidiyor?   </a:t>
            </a:r>
          </a:p>
          <a:p>
            <a:r>
              <a:rPr lang="tr-TR" sz="1600" dirty="0">
                <a:solidFill>
                  <a:schemeClr val="bg1"/>
                </a:solidFill>
              </a:rPr>
              <a:t>Kullanıcının gün içindeki verileri sistemde kaydedilir; </a:t>
            </a:r>
            <a:r>
              <a:rPr lang="tr-TR" sz="1600" dirty="0" err="1">
                <a:solidFill>
                  <a:schemeClr val="bg1"/>
                </a:solidFill>
              </a:rPr>
              <a:t>YZ'ye</a:t>
            </a:r>
            <a:r>
              <a:rPr lang="tr-TR" sz="1600" dirty="0">
                <a:solidFill>
                  <a:schemeClr val="bg1"/>
                </a:solidFill>
              </a:rPr>
              <a:t> gönderilmeden önce anonim   bir JSON özete dönüştürülür (oturum sayısı, tutulan/kırılan söz, aşım miktarı, en çok   kullanılan uygulamalar). İsim, fotoğraf, iletişim bilgisi asla gönderilmez.</a:t>
            </a:r>
          </a:p>
          <a:p>
            <a:endParaRPr lang="tr-TR" sz="1600" dirty="0">
              <a:solidFill>
                <a:schemeClr val="bg1"/>
              </a:solidFill>
            </a:endParaRPr>
          </a:p>
          <a:p>
            <a:r>
              <a:rPr lang="tr-TR" sz="1600" b="1" dirty="0">
                <a:solidFill>
                  <a:schemeClr val="bg1"/>
                </a:solidFill>
              </a:rPr>
              <a:t>2) </a:t>
            </a:r>
            <a:r>
              <a:rPr lang="tr-TR" sz="1600" b="1" dirty="0" err="1">
                <a:solidFill>
                  <a:schemeClr val="bg1"/>
                </a:solidFill>
              </a:rPr>
              <a:t>Prompt</a:t>
            </a:r>
            <a:r>
              <a:rPr lang="tr-TR" sz="1600" b="1" dirty="0">
                <a:solidFill>
                  <a:schemeClr val="bg1"/>
                </a:solidFill>
              </a:rPr>
              <a:t> tasarımı — bölüm ayırıcılar (</a:t>
            </a:r>
            <a:r>
              <a:rPr lang="tr-TR" sz="1600" b="1" dirty="0" err="1">
                <a:solidFill>
                  <a:schemeClr val="bg1"/>
                </a:solidFill>
              </a:rPr>
              <a:t>delimiter</a:t>
            </a:r>
            <a:r>
              <a:rPr lang="tr-TR" sz="1600" b="1" dirty="0">
                <a:solidFill>
                  <a:schemeClr val="bg1"/>
                </a:solidFill>
              </a:rPr>
              <a:t>):   </a:t>
            </a:r>
            <a:r>
              <a:rPr lang="tr-TR" sz="1600" dirty="0">
                <a:solidFill>
                  <a:schemeClr val="bg1"/>
                </a:solidFill>
              </a:rPr>
              <a:t>"KOMUT / VERİ / ÖRNEK / DOĞRULAMA" ayrımı yapıyoruz; model sınır çizgilerini net görür.</a:t>
            </a:r>
          </a:p>
          <a:p>
            <a:endParaRPr lang="tr-TR" sz="1600" dirty="0">
              <a:solidFill>
                <a:schemeClr val="bg1"/>
              </a:solidFill>
            </a:endParaRPr>
          </a:p>
          <a:p>
            <a:r>
              <a:rPr lang="tr-TR" sz="1600" b="1" dirty="0">
                <a:solidFill>
                  <a:schemeClr val="bg1"/>
                </a:solidFill>
              </a:rPr>
              <a:t>3) Zero-</a:t>
            </a:r>
            <a:r>
              <a:rPr lang="tr-TR" sz="1600" b="1" dirty="0" err="1">
                <a:solidFill>
                  <a:schemeClr val="bg1"/>
                </a:solidFill>
              </a:rPr>
              <a:t>shot</a:t>
            </a:r>
            <a:r>
              <a:rPr lang="tr-TR" sz="1600" b="1" dirty="0">
                <a:solidFill>
                  <a:schemeClr val="bg1"/>
                </a:solidFill>
              </a:rPr>
              <a:t>:   </a:t>
            </a:r>
            <a:r>
              <a:rPr lang="tr-TR" sz="1600" dirty="0">
                <a:solidFill>
                  <a:schemeClr val="bg1"/>
                </a:solidFill>
              </a:rPr>
              <a:t>Modele rolü ve kural listesini hiçbir örnek vermeden verdik; koç kimliği ve 9 kural   tek sistem </a:t>
            </a:r>
            <a:r>
              <a:rPr lang="tr-TR" sz="1600" dirty="0" err="1">
                <a:solidFill>
                  <a:schemeClr val="bg1"/>
                </a:solidFill>
              </a:rPr>
              <a:t>promptunda</a:t>
            </a:r>
            <a:r>
              <a:rPr lang="tr-TR" sz="1600" dirty="0">
                <a:solidFill>
                  <a:schemeClr val="bg1"/>
                </a:solidFill>
              </a:rPr>
              <a:t> tanımlı (ör. tanı yasağı, rakamı yalnızca veriden al, Türkçe   yanıt, zorunlu </a:t>
            </a:r>
            <a:r>
              <a:rPr lang="tr-TR" sz="1600" dirty="0" err="1">
                <a:solidFill>
                  <a:schemeClr val="bg1"/>
                </a:solidFill>
              </a:rPr>
              <a:t>ür-ge</a:t>
            </a:r>
            <a:r>
              <a:rPr lang="tr-TR" sz="1600" dirty="0">
                <a:solidFill>
                  <a:schemeClr val="bg1"/>
                </a:solidFill>
              </a:rPr>
              <a:t> eker: uyarı satırı).</a:t>
            </a:r>
          </a:p>
          <a:p>
            <a:endParaRPr lang="tr-TR" sz="1600" dirty="0">
              <a:solidFill>
                <a:schemeClr val="bg1"/>
              </a:solidFill>
            </a:endParaRPr>
          </a:p>
          <a:p>
            <a:r>
              <a:rPr lang="tr-TR" sz="1600" b="1" dirty="0">
                <a:solidFill>
                  <a:schemeClr val="bg1"/>
                </a:solidFill>
              </a:rPr>
              <a:t>4) </a:t>
            </a:r>
            <a:r>
              <a:rPr lang="tr-TR" sz="1600" b="1" dirty="0" err="1">
                <a:solidFill>
                  <a:schemeClr val="bg1"/>
                </a:solidFill>
              </a:rPr>
              <a:t>Few-shot</a:t>
            </a:r>
            <a:r>
              <a:rPr lang="tr-TR" sz="1600" b="1" dirty="0">
                <a:solidFill>
                  <a:schemeClr val="bg1"/>
                </a:solidFill>
              </a:rPr>
              <a:t> — günlük yansıma:   </a:t>
            </a:r>
            <a:r>
              <a:rPr lang="tr-TR" sz="1600" dirty="0">
                <a:solidFill>
                  <a:schemeClr val="bg1"/>
                </a:solidFill>
              </a:rPr>
              <a:t>"BÖLÜM 3 ve 4'te iki örnek var — biri normal gün, biri zor gün. Modele hem yapıyı hem   tonu öğretiyoruz; farklı modellerde tutarlı çıktı alıyoruz.«</a:t>
            </a:r>
          </a:p>
          <a:p>
            <a:endParaRPr lang="tr-TR" sz="1600" dirty="0">
              <a:solidFill>
                <a:schemeClr val="bg1"/>
              </a:solidFill>
            </a:endParaRPr>
          </a:p>
          <a:p>
            <a:r>
              <a:rPr lang="tr-TR" sz="1600" b="1" dirty="0">
                <a:solidFill>
                  <a:schemeClr val="bg1"/>
                </a:solidFill>
              </a:rPr>
              <a:t>5) JSON veri girişi:   </a:t>
            </a:r>
            <a:r>
              <a:rPr lang="tr-TR" sz="1600" dirty="0">
                <a:solidFill>
                  <a:schemeClr val="bg1"/>
                </a:solidFill>
              </a:rPr>
              <a:t>"BÖLÜM 2'de veri JSON olarak gidiyor; kural 4, rakamları sadece buradan al diyor.«</a:t>
            </a:r>
          </a:p>
          <a:p>
            <a:endParaRPr lang="tr-TR" sz="1600" dirty="0">
              <a:solidFill>
                <a:schemeClr val="bg1"/>
              </a:solidFill>
            </a:endParaRPr>
          </a:p>
          <a:p>
            <a:r>
              <a:rPr lang="tr-TR" sz="1600" dirty="0">
                <a:solidFill>
                  <a:schemeClr val="bg1"/>
                </a:solidFill>
              </a:rPr>
              <a:t>6</a:t>
            </a:r>
            <a:r>
              <a:rPr lang="tr-TR" sz="1600" b="1" dirty="0">
                <a:solidFill>
                  <a:schemeClr val="bg1"/>
                </a:solidFill>
              </a:rPr>
              <a:t>) </a:t>
            </a:r>
            <a:r>
              <a:rPr lang="tr-TR" sz="1600" b="1" dirty="0" err="1">
                <a:solidFill>
                  <a:schemeClr val="bg1"/>
                </a:solidFill>
              </a:rPr>
              <a:t>Structured</a:t>
            </a:r>
            <a:r>
              <a:rPr lang="tr-TR" sz="1600" b="1" dirty="0">
                <a:solidFill>
                  <a:schemeClr val="bg1"/>
                </a:solidFill>
              </a:rPr>
              <a:t> step-</a:t>
            </a:r>
            <a:r>
              <a:rPr lang="tr-TR" sz="1600" b="1" dirty="0" err="1">
                <a:solidFill>
                  <a:schemeClr val="bg1"/>
                </a:solidFill>
              </a:rPr>
              <a:t>by</a:t>
            </a:r>
            <a:r>
              <a:rPr lang="tr-TR" sz="1600" b="1" dirty="0">
                <a:solidFill>
                  <a:schemeClr val="bg1"/>
                </a:solidFill>
              </a:rPr>
              <a:t>-step — haftalık özet:   </a:t>
            </a:r>
            <a:r>
              <a:rPr lang="tr-TR" sz="1600" dirty="0" err="1">
                <a:solidFill>
                  <a:schemeClr val="bg1"/>
                </a:solidFill>
              </a:rPr>
              <a:t>Promptta</a:t>
            </a:r>
            <a:r>
              <a:rPr lang="tr-TR" sz="1600" dirty="0">
                <a:solidFill>
                  <a:schemeClr val="bg1"/>
                </a:solidFill>
              </a:rPr>
              <a:t> adım adım emirler veriliyor: ADIM 1 yargısız özet → ADIM 2 iki kalıp seç   ("desen → tetikleyici → deney") → ADIM 3 iki esnek sınır öner (sert "günde 1 saat"   yasağı koyma) → ADIM 4 cesaretlendirici kapanış + uyarı. Sırayı asla bozma şartı,   modelin rastgele dağılmasını önler.</a:t>
            </a:r>
          </a:p>
        </p:txBody>
      </p:sp>
    </p:spTree>
    <p:extLst>
      <p:ext uri="{BB962C8B-B14F-4D97-AF65-F5344CB8AC3E}">
        <p14:creationId xmlns:p14="http://schemas.microsoft.com/office/powerpoint/2010/main" val="8241762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135DE-52BD-E6B9-129B-90D03D6678B1}"/>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5BAD7808-3B99-0F5D-34FA-003A7F1E24B1}"/>
              </a:ext>
            </a:extLst>
          </p:cNvPr>
          <p:cNvPicPr>
            <a:picLocks noChangeAspect="1"/>
          </p:cNvPicPr>
          <p:nvPr/>
        </p:nvPicPr>
        <p:blipFill>
          <a:blip r:embed="rId2"/>
          <a:stretch>
            <a:fillRect/>
          </a:stretch>
        </p:blipFill>
        <p:spPr>
          <a:xfrm>
            <a:off x="0" y="0"/>
            <a:ext cx="12192000" cy="6858000"/>
          </a:xfrm>
          <a:prstGeom prst="rect">
            <a:avLst/>
          </a:prstGeom>
        </p:spPr>
      </p:pic>
      <p:sp>
        <p:nvSpPr>
          <p:cNvPr id="18" name="Metin kutusu 17">
            <a:extLst>
              <a:ext uri="{FF2B5EF4-FFF2-40B4-BE49-F238E27FC236}">
                <a16:creationId xmlns:a16="http://schemas.microsoft.com/office/drawing/2014/main" id="{AD0223BA-07C2-3A07-4E8F-7F02754B515A}"/>
              </a:ext>
            </a:extLst>
          </p:cNvPr>
          <p:cNvSpPr txBox="1"/>
          <p:nvPr/>
        </p:nvSpPr>
        <p:spPr>
          <a:xfrm>
            <a:off x="370114" y="272143"/>
            <a:ext cx="11451771" cy="6313713"/>
          </a:xfrm>
          <a:prstGeom prst="rect">
            <a:avLst/>
          </a:prstGeom>
          <a:noFill/>
        </p:spPr>
        <p:txBody>
          <a:bodyPr wrap="square" rtlCol="0">
            <a:spAutoFit/>
          </a:bodyPr>
          <a:lstStyle/>
          <a:p>
            <a:endParaRPr lang="tr-TR" dirty="0"/>
          </a:p>
        </p:txBody>
      </p:sp>
      <p:sp>
        <p:nvSpPr>
          <p:cNvPr id="20" name="Metin kutusu 19">
            <a:extLst>
              <a:ext uri="{FF2B5EF4-FFF2-40B4-BE49-F238E27FC236}">
                <a16:creationId xmlns:a16="http://schemas.microsoft.com/office/drawing/2014/main" id="{AA0BFAEF-6CFF-BF7C-E466-D62A5323930C}"/>
              </a:ext>
            </a:extLst>
          </p:cNvPr>
          <p:cNvSpPr txBox="1"/>
          <p:nvPr/>
        </p:nvSpPr>
        <p:spPr>
          <a:xfrm>
            <a:off x="370114" y="920620"/>
            <a:ext cx="10667999" cy="4832092"/>
          </a:xfrm>
          <a:prstGeom prst="rect">
            <a:avLst/>
          </a:prstGeom>
          <a:noFill/>
        </p:spPr>
        <p:txBody>
          <a:bodyPr wrap="square">
            <a:spAutoFit/>
          </a:bodyPr>
          <a:lstStyle/>
          <a:p>
            <a:r>
              <a:rPr lang="tr-TR" sz="1400" dirty="0">
                <a:solidFill>
                  <a:schemeClr val="bg1"/>
                </a:solidFill>
              </a:rPr>
              <a:t>7) </a:t>
            </a:r>
            <a:r>
              <a:rPr lang="tr-TR" sz="1400" b="1" dirty="0">
                <a:solidFill>
                  <a:schemeClr val="bg1"/>
                </a:solidFill>
              </a:rPr>
              <a:t>DOĞRULAMA adımı (self-</a:t>
            </a:r>
            <a:r>
              <a:rPr lang="tr-TR" sz="1400" b="1" dirty="0" err="1">
                <a:solidFill>
                  <a:schemeClr val="bg1"/>
                </a:solidFill>
              </a:rPr>
              <a:t>check</a:t>
            </a:r>
            <a:r>
              <a:rPr lang="tr-TR" sz="1400" b="1" dirty="0">
                <a:solidFill>
                  <a:schemeClr val="bg1"/>
                </a:solidFill>
              </a:rPr>
              <a:t>):   </a:t>
            </a:r>
            <a:r>
              <a:rPr lang="tr-TR" sz="1400" dirty="0">
                <a:solidFill>
                  <a:schemeClr val="bg1"/>
                </a:solidFill>
              </a:rPr>
              <a:t>"BÖLÜM 5 — model cevaplamadan önce kendine 3 soru soruyor: kullandığım her rakam   veride var mı? Tıbbi/yargılayıcı ifade var mı? Format kurallarına uydum mu?   Kural: 'Verimde yoksa söyle, uydurma.’»</a:t>
            </a:r>
          </a:p>
          <a:p>
            <a:endParaRPr lang="tr-TR" sz="1400" dirty="0">
              <a:solidFill>
                <a:schemeClr val="bg1"/>
              </a:solidFill>
            </a:endParaRPr>
          </a:p>
          <a:p>
            <a:r>
              <a:rPr lang="tr-TR" sz="1400" b="1" dirty="0">
                <a:solidFill>
                  <a:schemeClr val="bg1"/>
                </a:solidFill>
              </a:rPr>
              <a:t>8) Sıcaklık (</a:t>
            </a:r>
            <a:r>
              <a:rPr lang="tr-TR" sz="1400" b="1" dirty="0" err="1">
                <a:solidFill>
                  <a:schemeClr val="bg1"/>
                </a:solidFill>
              </a:rPr>
              <a:t>temperature</a:t>
            </a:r>
            <a:r>
              <a:rPr lang="tr-TR" sz="1400" b="1" dirty="0">
                <a:solidFill>
                  <a:schemeClr val="bg1"/>
                </a:solidFill>
              </a:rPr>
              <a:t>) ayarı:   </a:t>
            </a:r>
            <a:r>
              <a:rPr lang="tr-TR" sz="1400" dirty="0">
                <a:solidFill>
                  <a:schemeClr val="bg1"/>
                </a:solidFill>
              </a:rPr>
              <a:t>Deneme-yanılma ile 3 görev için ayrı değer seçtik: yansıma 0.5 (tutarlı), sohbet 0.7,   bildirim 0.8 (biraz daha doğal). Seçimimiz </a:t>
            </a:r>
            <a:r>
              <a:rPr lang="tr-TR" sz="1400" dirty="0" err="1">
                <a:solidFill>
                  <a:schemeClr val="bg1"/>
                </a:solidFill>
              </a:rPr>
              <a:t>prompt</a:t>
            </a:r>
            <a:r>
              <a:rPr lang="tr-TR" sz="1400" dirty="0">
                <a:solidFill>
                  <a:schemeClr val="bg1"/>
                </a:solidFill>
              </a:rPr>
              <a:t> kutusunda belgeleniyor.</a:t>
            </a:r>
          </a:p>
          <a:p>
            <a:endParaRPr lang="tr-TR" sz="1400" dirty="0">
              <a:solidFill>
                <a:schemeClr val="bg1"/>
              </a:solidFill>
            </a:endParaRPr>
          </a:p>
          <a:p>
            <a:r>
              <a:rPr lang="tr-TR" sz="1400" b="1" dirty="0">
                <a:solidFill>
                  <a:schemeClr val="bg1"/>
                </a:solidFill>
              </a:rPr>
              <a:t>9) </a:t>
            </a:r>
            <a:r>
              <a:rPr lang="tr-TR" sz="1400" b="1" dirty="0" err="1">
                <a:solidFill>
                  <a:schemeClr val="bg1"/>
                </a:solidFill>
              </a:rPr>
              <a:t>Token</a:t>
            </a:r>
            <a:r>
              <a:rPr lang="tr-TR" sz="1400" b="1" dirty="0">
                <a:solidFill>
                  <a:schemeClr val="bg1"/>
                </a:solidFill>
              </a:rPr>
              <a:t> sınırı:   </a:t>
            </a:r>
            <a:r>
              <a:rPr lang="tr-TR" sz="1400" dirty="0">
                <a:solidFill>
                  <a:schemeClr val="bg1"/>
                </a:solidFill>
              </a:rPr>
              <a:t>Tüm çağrılarda çıktı 1500 </a:t>
            </a:r>
            <a:r>
              <a:rPr lang="tr-TR" sz="1400" dirty="0" err="1">
                <a:solidFill>
                  <a:schemeClr val="bg1"/>
                </a:solidFill>
              </a:rPr>
              <a:t>token</a:t>
            </a:r>
            <a:r>
              <a:rPr lang="tr-TR" sz="1400" dirty="0">
                <a:solidFill>
                  <a:schemeClr val="bg1"/>
                </a:solidFill>
              </a:rPr>
              <a:t> ile sınırlı. Gereksiz uzun cevaplar gelmiyor, API   kullanımında tasarruf sağlanıyor.</a:t>
            </a:r>
          </a:p>
          <a:p>
            <a:endParaRPr lang="tr-TR" sz="1400" dirty="0">
              <a:solidFill>
                <a:schemeClr val="bg1"/>
              </a:solidFill>
            </a:endParaRPr>
          </a:p>
          <a:p>
            <a:r>
              <a:rPr lang="tr-TR" sz="1400" b="1" dirty="0">
                <a:solidFill>
                  <a:schemeClr val="bg1"/>
                </a:solidFill>
              </a:rPr>
              <a:t>10) (EK) JSON şema kısıtı — bildirim koçu</a:t>
            </a:r>
            <a:r>
              <a:rPr lang="tr-TR" sz="1400" dirty="0">
                <a:solidFill>
                  <a:schemeClr val="bg1"/>
                </a:solidFill>
              </a:rPr>
              <a:t>:    Koç bildirimi {</a:t>
            </a:r>
            <a:r>
              <a:rPr lang="tr-TR" sz="1400" dirty="0" err="1">
                <a:solidFill>
                  <a:schemeClr val="bg1"/>
                </a:solidFill>
              </a:rPr>
              <a:t>title</a:t>
            </a:r>
            <a:r>
              <a:rPr lang="tr-TR" sz="1400" dirty="0">
                <a:solidFill>
                  <a:schemeClr val="bg1"/>
                </a:solidFill>
              </a:rPr>
              <a:t>, body, </a:t>
            </a:r>
            <a:r>
              <a:rPr lang="tr-TR" sz="1400" dirty="0" err="1">
                <a:solidFill>
                  <a:schemeClr val="bg1"/>
                </a:solidFill>
              </a:rPr>
              <a:t>breakOffer</a:t>
            </a:r>
            <a:r>
              <a:rPr lang="tr-TR" sz="1400" dirty="0">
                <a:solidFill>
                  <a:schemeClr val="bg1"/>
                </a:solidFill>
              </a:rPr>
              <a:t>, </a:t>
            </a:r>
            <a:r>
              <a:rPr lang="tr-TR" sz="1400" dirty="0" err="1">
                <a:solidFill>
                  <a:schemeClr val="bg1"/>
                </a:solidFill>
              </a:rPr>
              <a:t>points</a:t>
            </a:r>
            <a:r>
              <a:rPr lang="tr-TR" sz="1400" dirty="0">
                <a:solidFill>
                  <a:schemeClr val="bg1"/>
                </a:solidFill>
              </a:rPr>
              <a:t>} sabit JSON şemasına zorlanır; çıktı    ayrıştırılıp kart olarak </a:t>
            </a:r>
            <a:r>
              <a:rPr lang="tr-TR" sz="1400" dirty="0" err="1">
                <a:solidFill>
                  <a:schemeClr val="bg1"/>
                </a:solidFill>
              </a:rPr>
              <a:t>render</a:t>
            </a:r>
            <a:r>
              <a:rPr lang="tr-TR" sz="1400" dirty="0">
                <a:solidFill>
                  <a:schemeClr val="bg1"/>
                </a:solidFill>
              </a:rPr>
              <a:t> edilir — model tonu yine empatik ve bağlama uygun    tutar (saat, seri, aşım durumu).</a:t>
            </a:r>
          </a:p>
          <a:p>
            <a:endParaRPr lang="tr-TR" sz="1400" dirty="0">
              <a:solidFill>
                <a:schemeClr val="bg1"/>
              </a:solidFill>
            </a:endParaRPr>
          </a:p>
          <a:p>
            <a:r>
              <a:rPr lang="tr-TR" sz="1400" b="1" dirty="0">
                <a:solidFill>
                  <a:schemeClr val="bg1"/>
                </a:solidFill>
              </a:rPr>
              <a:t>11) Kriz </a:t>
            </a:r>
            <a:r>
              <a:rPr lang="tr-TR" sz="1400" b="1" dirty="0" err="1">
                <a:solidFill>
                  <a:schemeClr val="bg1"/>
                </a:solidFill>
              </a:rPr>
              <a:t>guard</a:t>
            </a:r>
            <a:r>
              <a:rPr lang="tr-TR" sz="1400" b="1" dirty="0">
                <a:solidFill>
                  <a:schemeClr val="bg1"/>
                </a:solidFill>
              </a:rPr>
              <a:t> (</a:t>
            </a:r>
            <a:r>
              <a:rPr lang="tr-TR" sz="1400" b="1" dirty="0" err="1">
                <a:solidFill>
                  <a:schemeClr val="bg1"/>
                </a:solidFill>
              </a:rPr>
              <a:t>regex</a:t>
            </a:r>
            <a:r>
              <a:rPr lang="tr-TR" sz="1400" dirty="0">
                <a:solidFill>
                  <a:schemeClr val="bg1"/>
                </a:solidFill>
              </a:rPr>
              <a:t>):    "Kendime kıymak istiyorum" gibi bir kriz ifadesi yazıldığında filtre, model    çağrılmadan devreye girer; tanı koymaz, doğrudan Yeşilay 115 / 112 yönlendirmesi    döner. Canlı modelde ve çevrimdışı şablonda aynı kural işler.</a:t>
            </a:r>
          </a:p>
          <a:p>
            <a:endParaRPr lang="tr-TR" sz="1400" dirty="0">
              <a:solidFill>
                <a:schemeClr val="bg1"/>
              </a:solidFill>
            </a:endParaRPr>
          </a:p>
          <a:p>
            <a:r>
              <a:rPr lang="tr-TR" sz="1400" b="1" dirty="0">
                <a:solidFill>
                  <a:schemeClr val="bg1"/>
                </a:solidFill>
              </a:rPr>
              <a:t>12) Tıbbi </a:t>
            </a:r>
            <a:r>
              <a:rPr lang="tr-TR" sz="1400" b="1" dirty="0" err="1">
                <a:solidFill>
                  <a:schemeClr val="bg1"/>
                </a:solidFill>
              </a:rPr>
              <a:t>guard</a:t>
            </a:r>
            <a:r>
              <a:rPr lang="tr-TR" sz="1400" b="1" dirty="0">
                <a:solidFill>
                  <a:schemeClr val="bg1"/>
                </a:solidFill>
              </a:rPr>
              <a:t>:    </a:t>
            </a:r>
            <a:r>
              <a:rPr lang="tr-TR" sz="1400" dirty="0">
                <a:solidFill>
                  <a:schemeClr val="bg1"/>
                </a:solidFill>
              </a:rPr>
              <a:t>"Başım çok ağrıyor" yazıldığında tıbbi filtre devreye girer; tanı konmaz, doktora    yönlendirilir ve konu ekran alışkanlığına geri getirilir.</a:t>
            </a:r>
          </a:p>
          <a:p>
            <a:endParaRPr lang="tr-TR" sz="1400" dirty="0">
              <a:solidFill>
                <a:schemeClr val="bg1"/>
              </a:solidFill>
            </a:endParaRPr>
          </a:p>
          <a:p>
            <a:r>
              <a:rPr lang="tr-TR" sz="1400" dirty="0">
                <a:solidFill>
                  <a:schemeClr val="bg1"/>
                </a:solidFill>
              </a:rPr>
              <a:t>13) Konu dışı (</a:t>
            </a:r>
            <a:r>
              <a:rPr lang="tr-TR" sz="1400" dirty="0" err="1">
                <a:solidFill>
                  <a:schemeClr val="bg1"/>
                </a:solidFill>
              </a:rPr>
              <a:t>off-topic</a:t>
            </a:r>
            <a:r>
              <a:rPr lang="tr-TR" sz="1400" dirty="0">
                <a:solidFill>
                  <a:schemeClr val="bg1"/>
                </a:solidFill>
              </a:rPr>
              <a:t>) </a:t>
            </a:r>
            <a:r>
              <a:rPr lang="tr-TR" sz="1400" dirty="0" err="1">
                <a:solidFill>
                  <a:schemeClr val="bg1"/>
                </a:solidFill>
              </a:rPr>
              <a:t>guard</a:t>
            </a:r>
            <a:r>
              <a:rPr lang="tr-TR" sz="1400" dirty="0">
                <a:solidFill>
                  <a:schemeClr val="bg1"/>
                </a:solidFill>
              </a:rPr>
              <a:t>:    "Dolar bugün ne kadar?" sorulursa kategorik tespit yapılır; "Bu benim alanım değil,    dijital iyi olmayı konuşalım" yanıtıyla kullanıcı ekran alışkanlıklarına döndürülür.    Kategoriler: finans, haber, spor, eğlence, genel kültür, yaşam.</a:t>
            </a:r>
          </a:p>
          <a:p>
            <a:endParaRPr lang="tr-TR" sz="1400" dirty="0">
              <a:solidFill>
                <a:schemeClr val="bg1"/>
              </a:solidFill>
            </a:endParaRPr>
          </a:p>
          <a:p>
            <a:r>
              <a:rPr lang="tr-TR" sz="1400" b="1" dirty="0">
                <a:solidFill>
                  <a:schemeClr val="bg1"/>
                </a:solidFill>
              </a:rPr>
              <a:t>14) Etik kelime filtresi:    </a:t>
            </a:r>
            <a:r>
              <a:rPr lang="tr-TR" sz="1400" dirty="0">
                <a:solidFill>
                  <a:schemeClr val="bg1"/>
                </a:solidFill>
              </a:rPr>
              <a:t>Rol tanımında modelin kullanmaması gereken kelimeler ayarlandı: "bağımlı", "hasta",    "tedavi", "hastalık" gibi tıbbi/damgalayıcı sözcükler ve suçlayıcı dil yasak; her    çıktı zorunlu "farkındalık amaçlıdır, tıbbi değildir" uyarısıyla biter.</a:t>
            </a:r>
          </a:p>
        </p:txBody>
      </p:sp>
    </p:spTree>
    <p:extLst>
      <p:ext uri="{BB962C8B-B14F-4D97-AF65-F5344CB8AC3E}">
        <p14:creationId xmlns:p14="http://schemas.microsoft.com/office/powerpoint/2010/main" val="293641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E6F01-26E0-B8F8-7EE5-1EF70614EEE4}"/>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E5822AA7-EB65-9714-1F84-AFCCC173A20A}"/>
              </a:ext>
            </a:extLst>
          </p:cNvPr>
          <p:cNvPicPr>
            <a:picLocks noChangeAspect="1"/>
          </p:cNvPicPr>
          <p:nvPr/>
        </p:nvPicPr>
        <p:blipFill>
          <a:blip r:embed="rId2"/>
          <a:stretch>
            <a:fillRect/>
          </a:stretch>
        </p:blipFill>
        <p:spPr>
          <a:xfrm>
            <a:off x="0" y="0"/>
            <a:ext cx="12192000" cy="6858000"/>
          </a:xfrm>
          <a:prstGeom prst="rect">
            <a:avLst/>
          </a:prstGeom>
        </p:spPr>
      </p:pic>
      <p:sp>
        <p:nvSpPr>
          <p:cNvPr id="18" name="Metin kutusu 17">
            <a:extLst>
              <a:ext uri="{FF2B5EF4-FFF2-40B4-BE49-F238E27FC236}">
                <a16:creationId xmlns:a16="http://schemas.microsoft.com/office/drawing/2014/main" id="{F28433B5-EF71-483C-81DD-73CCD3E8524C}"/>
              </a:ext>
            </a:extLst>
          </p:cNvPr>
          <p:cNvSpPr txBox="1"/>
          <p:nvPr/>
        </p:nvSpPr>
        <p:spPr>
          <a:xfrm>
            <a:off x="370114" y="272143"/>
            <a:ext cx="11451771" cy="6313713"/>
          </a:xfrm>
          <a:prstGeom prst="rect">
            <a:avLst/>
          </a:prstGeom>
          <a:noFill/>
        </p:spPr>
        <p:txBody>
          <a:bodyPr wrap="square" rtlCol="0">
            <a:spAutoFit/>
          </a:bodyPr>
          <a:lstStyle/>
          <a:p>
            <a:endParaRPr lang="tr-TR" dirty="0"/>
          </a:p>
        </p:txBody>
      </p:sp>
      <p:sp>
        <p:nvSpPr>
          <p:cNvPr id="20" name="Metin kutusu 19">
            <a:extLst>
              <a:ext uri="{FF2B5EF4-FFF2-40B4-BE49-F238E27FC236}">
                <a16:creationId xmlns:a16="http://schemas.microsoft.com/office/drawing/2014/main" id="{8A49814E-35D0-595C-A8AC-57D1A3EEED2D}"/>
              </a:ext>
            </a:extLst>
          </p:cNvPr>
          <p:cNvSpPr txBox="1"/>
          <p:nvPr/>
        </p:nvSpPr>
        <p:spPr>
          <a:xfrm>
            <a:off x="370114" y="920620"/>
            <a:ext cx="10667999" cy="3970318"/>
          </a:xfrm>
          <a:prstGeom prst="rect">
            <a:avLst/>
          </a:prstGeom>
          <a:noFill/>
        </p:spPr>
        <p:txBody>
          <a:bodyPr wrap="square">
            <a:spAutoFit/>
          </a:bodyPr>
          <a:lstStyle/>
          <a:p>
            <a:r>
              <a:rPr lang="tr-TR" sz="1400" b="1" dirty="0">
                <a:solidFill>
                  <a:schemeClr val="bg1"/>
                </a:solidFill>
              </a:rPr>
              <a:t>15) (EK) Çok turlu sohbet + bellek:    </a:t>
            </a:r>
            <a:r>
              <a:rPr lang="tr-TR" sz="1400" dirty="0">
                <a:solidFill>
                  <a:schemeClr val="bg1"/>
                </a:solidFill>
              </a:rPr>
              <a:t>Koç konuşma geçmişini hatırlar. Cihazda son 40 mesaj saklanır, modele son 20 kayıt    iletilir — hem veri gizliliği hem maliyet optimizasyonu sağlanır.</a:t>
            </a:r>
          </a:p>
          <a:p>
            <a:endParaRPr lang="tr-TR" sz="1400" dirty="0">
              <a:solidFill>
                <a:schemeClr val="bg1"/>
              </a:solidFill>
            </a:endParaRPr>
          </a:p>
          <a:p>
            <a:r>
              <a:rPr lang="tr-TR" sz="1400" b="1" dirty="0">
                <a:solidFill>
                  <a:schemeClr val="bg1"/>
                </a:solidFill>
              </a:rPr>
              <a:t>16) (EK) YZ damgası ve şeffaflık:    </a:t>
            </a:r>
            <a:r>
              <a:rPr lang="tr-TR" sz="1400" dirty="0">
                <a:solidFill>
                  <a:schemeClr val="bg1"/>
                </a:solidFill>
              </a:rPr>
              <a:t>Her YZ çıktısı "yapay zekâ tarafından üretildi" damgası taşır, sohbette YZ rozeti    görünür. Ayrıca "Kullanılan </a:t>
            </a:r>
            <a:r>
              <a:rPr lang="tr-TR" sz="1400" dirty="0" err="1">
                <a:solidFill>
                  <a:schemeClr val="bg1"/>
                </a:solidFill>
              </a:rPr>
              <a:t>Promptu</a:t>
            </a:r>
            <a:r>
              <a:rPr lang="tr-TR" sz="1400" dirty="0">
                <a:solidFill>
                  <a:schemeClr val="bg1"/>
                </a:solidFill>
              </a:rPr>
              <a:t> Göster" özelliği ile jüri gönderilen gerçek    </a:t>
            </a:r>
            <a:r>
              <a:rPr lang="tr-TR" sz="1400" dirty="0" err="1">
                <a:solidFill>
                  <a:schemeClr val="bg1"/>
                </a:solidFill>
              </a:rPr>
              <a:t>promptu</a:t>
            </a:r>
            <a:r>
              <a:rPr lang="tr-TR" sz="1400" dirty="0">
                <a:solidFill>
                  <a:schemeClr val="bg1"/>
                </a:solidFill>
              </a:rPr>
              <a:t> canlı inceleyebilir.</a:t>
            </a:r>
          </a:p>
          <a:p>
            <a:endParaRPr lang="tr-TR" sz="1400" dirty="0">
              <a:solidFill>
                <a:schemeClr val="bg1"/>
              </a:solidFill>
            </a:endParaRPr>
          </a:p>
          <a:p>
            <a:r>
              <a:rPr lang="tr-TR" sz="1400" b="1" dirty="0">
                <a:solidFill>
                  <a:schemeClr val="bg1"/>
                </a:solidFill>
              </a:rPr>
              <a:t>17) (EK) İki sağlayıcı desteği + çevrimdışı (offline-</a:t>
            </a:r>
            <a:r>
              <a:rPr lang="tr-TR" sz="1400" b="1" dirty="0" err="1">
                <a:solidFill>
                  <a:schemeClr val="bg1"/>
                </a:solidFill>
              </a:rPr>
              <a:t>first</a:t>
            </a:r>
            <a:r>
              <a:rPr lang="tr-TR" sz="1400" b="1" dirty="0">
                <a:solidFill>
                  <a:schemeClr val="bg1"/>
                </a:solidFill>
              </a:rPr>
              <a:t>):    </a:t>
            </a:r>
            <a:r>
              <a:rPr lang="tr-TR" sz="1400" dirty="0" err="1">
                <a:solidFill>
                  <a:schemeClr val="bg1"/>
                </a:solidFill>
              </a:rPr>
              <a:t>Ayarlar'dan</a:t>
            </a:r>
            <a:r>
              <a:rPr lang="tr-TR" sz="1400" dirty="0">
                <a:solidFill>
                  <a:schemeClr val="bg1"/>
                </a:solidFill>
              </a:rPr>
              <a:t> </a:t>
            </a:r>
            <a:r>
              <a:rPr lang="tr-TR" sz="1400" dirty="0" err="1">
                <a:solidFill>
                  <a:schemeClr val="bg1"/>
                </a:solidFill>
              </a:rPr>
              <a:t>OpenAI</a:t>
            </a:r>
            <a:r>
              <a:rPr lang="tr-TR" sz="1400" dirty="0">
                <a:solidFill>
                  <a:schemeClr val="bg1"/>
                </a:solidFill>
              </a:rPr>
              <a:t> uyumlu (varsayılan gpt-4o-mini) veya Google Gemini    (gemini-3.6-flash) seçilir; özel model adresi de yazılabilir. API anahtarı yoksa    aynı güvenlik kurallarına uyan deterministik şablon </a:t>
            </a:r>
            <a:r>
              <a:rPr lang="tr-TR" sz="1400" dirty="0" err="1">
                <a:solidFill>
                  <a:schemeClr val="bg1"/>
                </a:solidFill>
              </a:rPr>
              <a:t>fallback</a:t>
            </a:r>
            <a:r>
              <a:rPr lang="tr-TR" sz="1400" dirty="0">
                <a:solidFill>
                  <a:schemeClr val="bg1"/>
                </a:solidFill>
              </a:rPr>
              <a:t> devreye girer — demo    internetsiz bile uçtan uca çalışır.</a:t>
            </a:r>
          </a:p>
          <a:p>
            <a:endParaRPr lang="tr-TR" sz="1400" dirty="0">
              <a:solidFill>
                <a:schemeClr val="bg1"/>
              </a:solidFill>
            </a:endParaRPr>
          </a:p>
          <a:p>
            <a:r>
              <a:rPr lang="tr-TR" sz="1400" b="1" dirty="0">
                <a:solidFill>
                  <a:schemeClr val="bg1"/>
                </a:solidFill>
              </a:rPr>
              <a:t>18) (EK) Veri hakları (KVKK):    </a:t>
            </a:r>
            <a:r>
              <a:rPr lang="tr-TR" sz="1400" dirty="0">
                <a:solidFill>
                  <a:schemeClr val="bg1"/>
                </a:solidFill>
              </a:rPr>
              <a:t>Girişte KVKK m.10 tam aydınlatma + açık rıza zorunlu; rıza yoksa uygulama açılmaz.    </a:t>
            </a:r>
            <a:r>
              <a:rPr lang="tr-TR" sz="1400" dirty="0" err="1">
                <a:solidFill>
                  <a:schemeClr val="bg1"/>
                </a:solidFill>
              </a:rPr>
              <a:t>Ayarlar'dan</a:t>
            </a:r>
            <a:r>
              <a:rPr lang="tr-TR" sz="1400" dirty="0">
                <a:solidFill>
                  <a:schemeClr val="bg1"/>
                </a:solidFill>
              </a:rPr>
              <a:t> rıza iptali (m.7), veri indirme (m.11), kalıcı silme (m.11) yapılabilir.</a:t>
            </a:r>
          </a:p>
          <a:p>
            <a:endParaRPr lang="tr-TR" sz="1400" dirty="0">
              <a:solidFill>
                <a:schemeClr val="bg1"/>
              </a:solidFill>
            </a:endParaRPr>
          </a:p>
          <a:p>
            <a:r>
              <a:rPr lang="tr-TR" sz="1400" b="1" dirty="0">
                <a:solidFill>
                  <a:schemeClr val="bg1"/>
                </a:solidFill>
              </a:rPr>
              <a:t>19) (EK) Kalite kanıtı: </a:t>
            </a:r>
            <a:r>
              <a:rPr lang="tr-TR" sz="1400" dirty="0">
                <a:solidFill>
                  <a:schemeClr val="bg1"/>
                </a:solidFill>
              </a:rPr>
              <a:t>87 otomatik test 0 hatayla çalışıyor (69 temel akış + 4 alan dışı + 5 YZ damgası +    9 aydınlatma/veri hakkı) ve 5/5 tek-dosya </a:t>
            </a:r>
            <a:r>
              <a:rPr lang="tr-TR" sz="1400" dirty="0" err="1">
                <a:solidFill>
                  <a:schemeClr val="bg1"/>
                </a:solidFill>
              </a:rPr>
              <a:t>build</a:t>
            </a:r>
            <a:r>
              <a:rPr lang="tr-TR" sz="1400" dirty="0">
                <a:solidFill>
                  <a:schemeClr val="bg1"/>
                </a:solidFill>
              </a:rPr>
              <a:t> doğrulaması başarılı — çekirdek    işlevlerin tutarlı çalıştığının somut kanıtı.</a:t>
            </a:r>
          </a:p>
          <a:p>
            <a:endParaRPr lang="tr-TR" sz="1400" dirty="0">
              <a:solidFill>
                <a:schemeClr val="bg1"/>
              </a:solidFill>
            </a:endParaRPr>
          </a:p>
          <a:p>
            <a:r>
              <a:rPr lang="tr-TR" sz="1400" b="1" dirty="0">
                <a:solidFill>
                  <a:schemeClr val="bg1"/>
                </a:solidFill>
              </a:rPr>
              <a:t>20) (EK) Mikro mola akışı:    </a:t>
            </a:r>
            <a:r>
              <a:rPr lang="tr-TR" sz="1400" dirty="0">
                <a:solidFill>
                  <a:schemeClr val="bg1"/>
                </a:solidFill>
              </a:rPr>
              <a:t>Süre aşılınca koç saat/seri/aşım durumunu temel alan empatik bildirim + somut mola    önerisi üretir ("Mola başla" → 20 sn geri sayım → +5 puan).</a:t>
            </a:r>
          </a:p>
        </p:txBody>
      </p:sp>
    </p:spTree>
    <p:extLst>
      <p:ext uri="{BB962C8B-B14F-4D97-AF65-F5344CB8AC3E}">
        <p14:creationId xmlns:p14="http://schemas.microsoft.com/office/powerpoint/2010/main" val="38802530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495425"/>
            <a:ext cx="5286375" cy="4819650"/>
          </a:xfrm>
          <a:prstGeom prst="rect">
            <a:avLst/>
          </a:prstGeom>
        </p:spPr>
      </p:pic>
      <p:pic>
        <p:nvPicPr>
          <p:cNvPr id="4" name="Picture 3" descr="image.png"/>
          <p:cNvPicPr>
            <a:picLocks noChangeAspect="1"/>
          </p:cNvPicPr>
          <p:nvPr/>
        </p:nvPicPr>
        <p:blipFill>
          <a:blip r:embed="rId4"/>
          <a:stretch>
            <a:fillRect/>
          </a:stretch>
        </p:blipFill>
        <p:spPr>
          <a:xfrm>
            <a:off x="6334125" y="1495425"/>
            <a:ext cx="5286375" cy="4819650"/>
          </a:xfrm>
          <a:prstGeom prst="rect">
            <a:avLst/>
          </a:prstGeom>
        </p:spPr>
      </p:pic>
      <p:sp>
        <p:nvSpPr>
          <p:cNvPr id="5" name="TextBox 4"/>
          <p:cNvSpPr txBox="1"/>
          <p:nvPr/>
        </p:nvSpPr>
        <p:spPr>
          <a:xfrm>
            <a:off x="571500" y="542925"/>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Prompt Yaklaşımı</a:t>
            </a:r>
          </a:p>
        </p:txBody>
      </p:sp>
      <p:sp>
        <p:nvSpPr>
          <p:cNvPr id="6" name="TextBox 5"/>
          <p:cNvSpPr txBox="1"/>
          <p:nvPr/>
        </p:nvSpPr>
        <p:spPr>
          <a:xfrm>
            <a:off x="1009650" y="1876425"/>
            <a:ext cx="4690586" cy="400050"/>
          </a:xfrm>
          <a:prstGeom prst="rect">
            <a:avLst/>
          </a:prstGeom>
          <a:noFill/>
        </p:spPr>
        <p:txBody>
          <a:bodyPr wrap="square" lIns="0" tIns="0" rIns="0" bIns="0" anchor="t">
            <a:spAutoFit/>
          </a:bodyPr>
          <a:lstStyle/>
          <a:p>
            <a:pPr algn="l"/>
            <a:r>
              <a:rPr sz="2100" b="1" i="0" u="none">
                <a:solidFill>
                  <a:srgbClr val="38BDF8"/>
                </a:solidFill>
                <a:latin typeface="Poppins"/>
              </a:rPr>
              <a:t>Kullanılan Prompt Mantığı</a:t>
            </a:r>
          </a:p>
        </p:txBody>
      </p:sp>
      <p:sp>
        <p:nvSpPr>
          <p:cNvPr id="7" name="TextBox 6"/>
          <p:cNvSpPr txBox="1"/>
          <p:nvPr/>
        </p:nvSpPr>
        <p:spPr>
          <a:xfrm>
            <a:off x="6772275" y="3004244"/>
            <a:ext cx="4690586" cy="400050"/>
          </a:xfrm>
          <a:prstGeom prst="rect">
            <a:avLst/>
          </a:prstGeom>
          <a:noFill/>
        </p:spPr>
        <p:txBody>
          <a:bodyPr wrap="square" lIns="0" tIns="0" rIns="0" bIns="0" anchor="t">
            <a:spAutoFit/>
          </a:bodyPr>
          <a:lstStyle/>
          <a:p>
            <a:pPr algn="l"/>
            <a:r>
              <a:rPr sz="2100" b="1" i="0" u="none">
                <a:solidFill>
                  <a:srgbClr val="34D399"/>
                </a:solidFill>
                <a:latin typeface="Poppins"/>
              </a:rPr>
              <a:t>Örnek Prompt</a:t>
            </a:r>
          </a:p>
        </p:txBody>
      </p:sp>
      <p:sp>
        <p:nvSpPr>
          <p:cNvPr id="8" name="TextBox 7"/>
          <p:cNvSpPr txBox="1"/>
          <p:nvPr/>
        </p:nvSpPr>
        <p:spPr>
          <a:xfrm>
            <a:off x="6772275" y="3737669"/>
            <a:ext cx="4467225" cy="925562"/>
          </a:xfrm>
          <a:prstGeom prst="rect">
            <a:avLst/>
          </a:prstGeom>
          <a:noFill/>
        </p:spPr>
        <p:txBody>
          <a:bodyPr wrap="square" lIns="0" tIns="0" rIns="0" bIns="0" anchor="t">
            <a:spAutoFit/>
          </a:bodyPr>
          <a:lstStyle/>
          <a:p>
            <a:pPr algn="l">
              <a:lnSpc>
                <a:spcPts val="2429"/>
              </a:lnSpc>
            </a:pPr>
            <a:r>
              <a:rPr sz="1350" b="0" i="0" u="none">
                <a:solidFill>
                  <a:srgbClr val="F8FAFC"/>
                </a:solidFill>
                <a:latin typeface="monospace"/>
              </a:rPr>
              <a:t>"Kullanıcının son 7 günlük verilerini özetle. Yargılama. 3 küçük, uygulanabilir öneri ver. Tıbbi tanı koyma."</a:t>
            </a:r>
          </a:p>
        </p:txBody>
      </p:sp>
      <p:sp>
        <p:nvSpPr>
          <p:cNvPr id="9" name="TextBox 8"/>
          <p:cNvSpPr txBox="1"/>
          <p:nvPr/>
        </p:nvSpPr>
        <p:spPr>
          <a:xfrm>
            <a:off x="1438275" y="2609850"/>
            <a:ext cx="403860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Yargılayıcı olmayan ton</a:t>
            </a:r>
          </a:p>
        </p:txBody>
      </p:sp>
      <p:sp>
        <p:nvSpPr>
          <p:cNvPr id="10" name="TextBox 9"/>
          <p:cNvSpPr txBox="1"/>
          <p:nvPr/>
        </p:nvSpPr>
        <p:spPr>
          <a:xfrm>
            <a:off x="1438275" y="3152775"/>
            <a:ext cx="403860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Tıbbi tanı koymama</a:t>
            </a:r>
          </a:p>
        </p:txBody>
      </p:sp>
      <p:sp>
        <p:nvSpPr>
          <p:cNvPr id="11" name="TextBox 10"/>
          <p:cNvSpPr txBox="1"/>
          <p:nvPr/>
        </p:nvSpPr>
        <p:spPr>
          <a:xfrm>
            <a:off x="1438275" y="3695700"/>
            <a:ext cx="403860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Kısa ve uygulanabilir öneriler</a:t>
            </a:r>
          </a:p>
        </p:txBody>
      </p:sp>
      <p:sp>
        <p:nvSpPr>
          <p:cNvPr id="12" name="TextBox 11"/>
          <p:cNvSpPr txBox="1"/>
          <p:nvPr/>
        </p:nvSpPr>
        <p:spPr>
          <a:xfrm>
            <a:off x="1438275" y="4238625"/>
            <a:ext cx="4038600" cy="3048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Kullanıcının hedefi ve bağlamına göre yanıt</a:t>
            </a:r>
          </a:p>
        </p:txBody>
      </p:sp>
      <p:sp>
        <p:nvSpPr>
          <p:cNvPr id="13" name="TextBox 12"/>
          <p:cNvSpPr txBox="1"/>
          <p:nvPr/>
        </p:nvSpPr>
        <p:spPr>
          <a:xfrm>
            <a:off x="1438275" y="4781550"/>
            <a:ext cx="4038600" cy="914400"/>
          </a:xfrm>
          <a:prstGeom prst="rect">
            <a:avLst/>
          </a:prstGeom>
          <a:noFill/>
        </p:spPr>
        <p:txBody>
          <a:bodyPr wrap="square" lIns="0" tIns="0" rIns="0" bIns="0" anchor="t">
            <a:spAutoFit/>
          </a:bodyPr>
          <a:lstStyle/>
          <a:p>
            <a:pPr algn="l">
              <a:lnSpc>
                <a:spcPts val="2400"/>
              </a:lnSpc>
            </a:pPr>
            <a:r>
              <a:rPr sz="1500" b="0" i="0" u="none">
                <a:solidFill>
                  <a:srgbClr val="F0F9FF"/>
                </a:solidFill>
                <a:latin typeface="Inter"/>
              </a:rPr>
              <a:t>Gerektiğinde profesyonel desteğe yönlendirme (Yeşilay Danışmanlık Hattı 115, Acil 112)</a:t>
            </a:r>
          </a:p>
        </p:txBody>
      </p:sp>
      <p:pic>
        <p:nvPicPr>
          <p:cNvPr id="14" name="Picture 13" descr="image.png"/>
          <p:cNvPicPr>
            <a:picLocks noChangeAspect="1"/>
          </p:cNvPicPr>
          <p:nvPr/>
        </p:nvPicPr>
        <p:blipFill>
          <a:blip r:embed="rId5"/>
          <a:stretch>
            <a:fillRect/>
          </a:stretch>
        </p:blipFill>
        <p:spPr>
          <a:xfrm>
            <a:off x="1009650" y="2638425"/>
            <a:ext cx="200025" cy="247650"/>
          </a:xfrm>
          <a:prstGeom prst="rect">
            <a:avLst/>
          </a:prstGeom>
        </p:spPr>
      </p:pic>
      <p:pic>
        <p:nvPicPr>
          <p:cNvPr id="15" name="Picture 14" descr="image.png"/>
          <p:cNvPicPr>
            <a:picLocks noChangeAspect="1"/>
          </p:cNvPicPr>
          <p:nvPr/>
        </p:nvPicPr>
        <p:blipFill>
          <a:blip r:embed="rId5"/>
          <a:stretch>
            <a:fillRect/>
          </a:stretch>
        </p:blipFill>
        <p:spPr>
          <a:xfrm>
            <a:off x="1009650" y="3181350"/>
            <a:ext cx="200025" cy="247650"/>
          </a:xfrm>
          <a:prstGeom prst="rect">
            <a:avLst/>
          </a:prstGeom>
        </p:spPr>
      </p:pic>
      <p:pic>
        <p:nvPicPr>
          <p:cNvPr id="16" name="Picture 15" descr="image.png"/>
          <p:cNvPicPr>
            <a:picLocks noChangeAspect="1"/>
          </p:cNvPicPr>
          <p:nvPr/>
        </p:nvPicPr>
        <p:blipFill>
          <a:blip r:embed="rId5"/>
          <a:stretch>
            <a:fillRect/>
          </a:stretch>
        </p:blipFill>
        <p:spPr>
          <a:xfrm>
            <a:off x="1009650" y="3724275"/>
            <a:ext cx="200025" cy="247650"/>
          </a:xfrm>
          <a:prstGeom prst="rect">
            <a:avLst/>
          </a:prstGeom>
        </p:spPr>
      </p:pic>
      <p:pic>
        <p:nvPicPr>
          <p:cNvPr id="17" name="Picture 16" descr="image.png"/>
          <p:cNvPicPr>
            <a:picLocks noChangeAspect="1"/>
          </p:cNvPicPr>
          <p:nvPr/>
        </p:nvPicPr>
        <p:blipFill>
          <a:blip r:embed="rId5"/>
          <a:stretch>
            <a:fillRect/>
          </a:stretch>
        </p:blipFill>
        <p:spPr>
          <a:xfrm>
            <a:off x="1009650" y="4267200"/>
            <a:ext cx="200025" cy="247650"/>
          </a:xfrm>
          <a:prstGeom prst="rect">
            <a:avLst/>
          </a:prstGeom>
        </p:spPr>
      </p:pic>
      <p:pic>
        <p:nvPicPr>
          <p:cNvPr id="18" name="Picture 17" descr="image.png"/>
          <p:cNvPicPr>
            <a:picLocks noChangeAspect="1"/>
          </p:cNvPicPr>
          <p:nvPr/>
        </p:nvPicPr>
        <p:blipFill>
          <a:blip r:embed="rId5"/>
          <a:stretch>
            <a:fillRect/>
          </a:stretch>
        </p:blipFill>
        <p:spPr>
          <a:xfrm>
            <a:off x="1009650" y="4810125"/>
            <a:ext cx="200025" cy="24765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1EC6A-E33E-9554-44A5-65B4703A970F}"/>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03C23BA5-886F-AD34-A03D-4896789F9E71}"/>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3568DEF4-B51A-5EEE-EA03-6CCDEF8B50DD}"/>
              </a:ext>
            </a:extLst>
          </p:cNvPr>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Etik ve Güvenli YZ</a:t>
            </a:r>
          </a:p>
        </p:txBody>
      </p:sp>
      <p:sp>
        <p:nvSpPr>
          <p:cNvPr id="5" name="TextBox 4">
            <a:extLst>
              <a:ext uri="{FF2B5EF4-FFF2-40B4-BE49-F238E27FC236}">
                <a16:creationId xmlns:a16="http://schemas.microsoft.com/office/drawing/2014/main" id="{4810BD88-F785-A027-E787-DACA8B406BB9}"/>
              </a:ext>
            </a:extLst>
          </p:cNvPr>
          <p:cNvSpPr txBox="1"/>
          <p:nvPr/>
        </p:nvSpPr>
        <p:spPr>
          <a:xfrm>
            <a:off x="1000125" y="1524000"/>
            <a:ext cx="4857750" cy="914400"/>
          </a:xfrm>
          <a:prstGeom prst="rect">
            <a:avLst/>
          </a:prstGeom>
          <a:noFill/>
        </p:spPr>
        <p:txBody>
          <a:bodyPr wrap="square" lIns="0" tIns="0" rIns="0" bIns="0" anchor="t">
            <a:spAutoFit/>
          </a:bodyPr>
          <a:lstStyle/>
          <a:p>
            <a:pPr algn="l">
              <a:lnSpc>
                <a:spcPts val="2400"/>
              </a:lnSpc>
            </a:pPr>
            <a:r>
              <a:rPr sz="1500" b="1" i="0" u="none" dirty="0">
                <a:solidFill>
                  <a:srgbClr val="F0F9FF"/>
                </a:solidFill>
                <a:latin typeface="Inter"/>
              </a:rPr>
              <a:t>MAHREMİYET:</a:t>
            </a:r>
            <a:r>
              <a:rPr sz="1500" b="0" i="0" u="none" dirty="0">
                <a:solidFill>
                  <a:srgbClr val="F0F9FF"/>
                </a:solidFill>
                <a:latin typeface="Inter"/>
              </a:rPr>
              <a:t> </a:t>
            </a:r>
            <a:r>
              <a:rPr sz="1500" b="0" i="0" u="none" dirty="0" err="1">
                <a:solidFill>
                  <a:srgbClr val="F0F9FF"/>
                </a:solidFill>
                <a:latin typeface="Inter"/>
              </a:rPr>
              <a:t>Gereksiz</a:t>
            </a:r>
            <a:r>
              <a:rPr sz="1500" b="0" i="0" u="none" dirty="0">
                <a:solidFill>
                  <a:srgbClr val="F0F9FF"/>
                </a:solidFill>
                <a:latin typeface="Inter"/>
              </a:rPr>
              <a:t> </a:t>
            </a:r>
            <a:r>
              <a:rPr sz="1500" b="0" i="0" u="none" dirty="0" err="1">
                <a:solidFill>
                  <a:srgbClr val="F0F9FF"/>
                </a:solidFill>
                <a:latin typeface="Inter"/>
              </a:rPr>
              <a:t>hassas</a:t>
            </a:r>
            <a:r>
              <a:rPr sz="1500" b="0" i="0" u="none" dirty="0">
                <a:solidFill>
                  <a:srgbClr val="F0F9FF"/>
                </a:solidFill>
                <a:latin typeface="Inter"/>
              </a:rPr>
              <a:t> </a:t>
            </a:r>
            <a:r>
              <a:rPr sz="1500" b="0" i="0" u="none" dirty="0" err="1">
                <a:solidFill>
                  <a:srgbClr val="F0F9FF"/>
                </a:solidFill>
                <a:latin typeface="Inter"/>
              </a:rPr>
              <a:t>veri</a:t>
            </a:r>
            <a:r>
              <a:rPr sz="1500" b="0" i="0" u="none" dirty="0">
                <a:solidFill>
                  <a:srgbClr val="F0F9FF"/>
                </a:solidFill>
                <a:latin typeface="Inter"/>
              </a:rPr>
              <a:t> </a:t>
            </a:r>
            <a:r>
              <a:rPr sz="1500" b="0" i="0" u="none" dirty="0" err="1">
                <a:solidFill>
                  <a:srgbClr val="F0F9FF"/>
                </a:solidFill>
                <a:latin typeface="Inter"/>
              </a:rPr>
              <a:t>istenmez</a:t>
            </a:r>
            <a:r>
              <a:rPr sz="1500" b="0" i="0" u="none" dirty="0">
                <a:solidFill>
                  <a:srgbClr val="F0F9FF"/>
                </a:solidFill>
                <a:latin typeface="Inter"/>
              </a:rPr>
              <a:t>, </a:t>
            </a:r>
            <a:r>
              <a:rPr sz="1500" b="0" i="0" u="none" dirty="0" err="1">
                <a:solidFill>
                  <a:srgbClr val="F0F9FF"/>
                </a:solidFill>
                <a:latin typeface="Inter"/>
              </a:rPr>
              <a:t>kişisel</a:t>
            </a:r>
            <a:r>
              <a:rPr sz="1500" b="0" i="0" u="none" dirty="0">
                <a:solidFill>
                  <a:srgbClr val="F0F9FF"/>
                </a:solidFill>
                <a:latin typeface="Inter"/>
              </a:rPr>
              <a:t> </a:t>
            </a:r>
            <a:r>
              <a:rPr sz="1500" b="0" i="0" u="none" dirty="0" err="1">
                <a:solidFill>
                  <a:srgbClr val="F0F9FF"/>
                </a:solidFill>
                <a:latin typeface="Inter"/>
              </a:rPr>
              <a:t>bilgi</a:t>
            </a:r>
            <a:r>
              <a:rPr sz="1500" b="0" i="0" u="none" dirty="0">
                <a:solidFill>
                  <a:srgbClr val="F0F9FF"/>
                </a:solidFill>
                <a:latin typeface="Inter"/>
              </a:rPr>
              <a:t> </a:t>
            </a:r>
            <a:r>
              <a:rPr sz="1500" b="0" i="0" u="none" dirty="0" err="1">
                <a:solidFill>
                  <a:srgbClr val="F0F9FF"/>
                </a:solidFill>
                <a:latin typeface="Inter"/>
              </a:rPr>
              <a:t>minimumda</a:t>
            </a:r>
            <a:r>
              <a:rPr sz="1500" b="0" i="0" u="none" dirty="0">
                <a:solidFill>
                  <a:srgbClr val="F0F9FF"/>
                </a:solidFill>
                <a:latin typeface="Inter"/>
              </a:rPr>
              <a:t> </a:t>
            </a:r>
            <a:r>
              <a:rPr sz="1500" b="0" i="0" u="none" dirty="0" err="1">
                <a:solidFill>
                  <a:srgbClr val="F0F9FF"/>
                </a:solidFill>
                <a:latin typeface="Inter"/>
              </a:rPr>
              <a:t>tutulur</a:t>
            </a:r>
            <a:r>
              <a:rPr sz="1500" b="0" i="0" u="none" dirty="0">
                <a:solidFill>
                  <a:srgbClr val="F0F9FF"/>
                </a:solidFill>
                <a:latin typeface="Inter"/>
              </a:rPr>
              <a:t>. KVKK </a:t>
            </a:r>
            <a:r>
              <a:rPr sz="1500" b="0" i="0" u="none" dirty="0" err="1">
                <a:solidFill>
                  <a:srgbClr val="F0F9FF"/>
                </a:solidFill>
                <a:latin typeface="Inter"/>
              </a:rPr>
              <a:t>aydınlatma</a:t>
            </a:r>
            <a:r>
              <a:rPr sz="1500" b="0" i="0" u="none" dirty="0">
                <a:solidFill>
                  <a:srgbClr val="F0F9FF"/>
                </a:solidFill>
                <a:latin typeface="Inter"/>
              </a:rPr>
              <a:t> </a:t>
            </a:r>
            <a:r>
              <a:rPr sz="1500" b="0" i="0" u="none" dirty="0" err="1">
                <a:solidFill>
                  <a:srgbClr val="F0F9FF"/>
                </a:solidFill>
                <a:latin typeface="Inter"/>
              </a:rPr>
              <a:t>metni</a:t>
            </a:r>
            <a:r>
              <a:rPr sz="1500" b="0" i="0" u="none" dirty="0">
                <a:solidFill>
                  <a:srgbClr val="F0F9FF"/>
                </a:solidFill>
                <a:latin typeface="Inter"/>
              </a:rPr>
              <a:t> </a:t>
            </a:r>
            <a:r>
              <a:rPr sz="1500" b="0" i="0" u="none" dirty="0" err="1">
                <a:solidFill>
                  <a:srgbClr val="F0F9FF"/>
                </a:solidFill>
                <a:latin typeface="Inter"/>
              </a:rPr>
              <a:t>gösterilir</a:t>
            </a:r>
            <a:r>
              <a:rPr sz="1500" b="0" i="0" u="none" dirty="0">
                <a:solidFill>
                  <a:srgbClr val="F0F9FF"/>
                </a:solidFill>
                <a:latin typeface="Inter"/>
              </a:rPr>
              <a:t>.</a:t>
            </a:r>
          </a:p>
        </p:txBody>
      </p:sp>
      <p:sp>
        <p:nvSpPr>
          <p:cNvPr id="6" name="TextBox 5">
            <a:extLst>
              <a:ext uri="{FF2B5EF4-FFF2-40B4-BE49-F238E27FC236}">
                <a16:creationId xmlns:a16="http://schemas.microsoft.com/office/drawing/2014/main" id="{1F27CEB6-10F1-9053-A035-CA94B7B2B7BF}"/>
              </a:ext>
            </a:extLst>
          </p:cNvPr>
          <p:cNvSpPr txBox="1"/>
          <p:nvPr/>
        </p:nvSpPr>
        <p:spPr>
          <a:xfrm>
            <a:off x="1000125" y="2676525"/>
            <a:ext cx="4857750" cy="6096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AŞIRI İDDİA RİSKİ:</a:t>
            </a:r>
            <a:r>
              <a:rPr sz="1500" b="0" i="0" u="none">
                <a:solidFill>
                  <a:srgbClr val="F0F9FF"/>
                </a:solidFill>
                <a:latin typeface="Inter"/>
              </a:rPr>
              <a:t> Chatbot önerileri tıbbi teşhis veya kesin uzman görüşü gibi sunulmaz.</a:t>
            </a:r>
          </a:p>
        </p:txBody>
      </p:sp>
      <p:sp>
        <p:nvSpPr>
          <p:cNvPr id="7" name="TextBox 6">
            <a:extLst>
              <a:ext uri="{FF2B5EF4-FFF2-40B4-BE49-F238E27FC236}">
                <a16:creationId xmlns:a16="http://schemas.microsoft.com/office/drawing/2014/main" id="{CA8E829D-C425-108A-89B9-A15B642486CC}"/>
              </a:ext>
            </a:extLst>
          </p:cNvPr>
          <p:cNvSpPr txBox="1"/>
          <p:nvPr/>
        </p:nvSpPr>
        <p:spPr>
          <a:xfrm>
            <a:off x="1000125" y="3662570"/>
            <a:ext cx="4857750" cy="914400"/>
          </a:xfrm>
          <a:prstGeom prst="rect">
            <a:avLst/>
          </a:prstGeom>
          <a:noFill/>
        </p:spPr>
        <p:txBody>
          <a:bodyPr wrap="square" lIns="0" tIns="0" rIns="0" bIns="0" anchor="t">
            <a:spAutoFit/>
          </a:bodyPr>
          <a:lstStyle/>
          <a:p>
            <a:pPr algn="l">
              <a:lnSpc>
                <a:spcPts val="2400"/>
              </a:lnSpc>
            </a:pPr>
            <a:r>
              <a:rPr sz="1500" b="1" i="0" u="none" dirty="0">
                <a:solidFill>
                  <a:srgbClr val="F0F9FF"/>
                </a:solidFill>
                <a:latin typeface="Inter"/>
              </a:rPr>
              <a:t>YARGILAYICI ÇIKTI RİSKİ:</a:t>
            </a:r>
            <a:r>
              <a:rPr sz="1500" b="0" i="0" u="none" dirty="0">
                <a:solidFill>
                  <a:srgbClr val="F0F9FF"/>
                </a:solidFill>
                <a:latin typeface="Inter"/>
              </a:rPr>
              <a:t> </a:t>
            </a:r>
            <a:r>
              <a:rPr sz="1500" b="0" i="0" u="none" dirty="0" err="1">
                <a:solidFill>
                  <a:srgbClr val="F0F9FF"/>
                </a:solidFill>
                <a:latin typeface="Inter"/>
              </a:rPr>
              <a:t>Bağımlılık</a:t>
            </a:r>
            <a:r>
              <a:rPr sz="1500" b="0" i="0" u="none" dirty="0">
                <a:solidFill>
                  <a:srgbClr val="F0F9FF"/>
                </a:solidFill>
                <a:latin typeface="Inter"/>
              </a:rPr>
              <a:t>, </a:t>
            </a:r>
            <a:r>
              <a:rPr sz="1500" b="0" i="0" u="none" dirty="0" err="1">
                <a:solidFill>
                  <a:srgbClr val="F0F9FF"/>
                </a:solidFill>
                <a:latin typeface="Inter"/>
              </a:rPr>
              <a:t>başarısızlık</a:t>
            </a:r>
            <a:r>
              <a:rPr sz="1500" b="0" i="0" u="none" dirty="0">
                <a:solidFill>
                  <a:srgbClr val="F0F9FF"/>
                </a:solidFill>
                <a:latin typeface="Inter"/>
              </a:rPr>
              <a:t> </a:t>
            </a:r>
            <a:r>
              <a:rPr sz="1500" b="0" i="0" u="none" dirty="0" err="1">
                <a:solidFill>
                  <a:srgbClr val="F0F9FF"/>
                </a:solidFill>
                <a:latin typeface="Inter"/>
              </a:rPr>
              <a:t>veya</a:t>
            </a:r>
            <a:r>
              <a:rPr sz="1500" b="0" i="0" u="none" dirty="0">
                <a:solidFill>
                  <a:srgbClr val="F0F9FF"/>
                </a:solidFill>
                <a:latin typeface="Inter"/>
              </a:rPr>
              <a:t> </a:t>
            </a:r>
            <a:r>
              <a:rPr sz="1500" b="0" i="0" u="none" dirty="0" err="1">
                <a:solidFill>
                  <a:srgbClr val="F0F9FF"/>
                </a:solidFill>
                <a:latin typeface="Inter"/>
              </a:rPr>
              <a:t>suçluluk</a:t>
            </a:r>
            <a:r>
              <a:rPr sz="1500" b="0" i="0" u="none" dirty="0">
                <a:solidFill>
                  <a:srgbClr val="F0F9FF"/>
                </a:solidFill>
                <a:latin typeface="Inter"/>
              </a:rPr>
              <a:t> </a:t>
            </a:r>
            <a:r>
              <a:rPr sz="1500" b="0" i="0" u="none" dirty="0" err="1">
                <a:solidFill>
                  <a:srgbClr val="F0F9FF"/>
                </a:solidFill>
                <a:latin typeface="Inter"/>
              </a:rPr>
              <a:t>dili</a:t>
            </a:r>
            <a:r>
              <a:rPr sz="1500" b="0" i="0" u="none" dirty="0">
                <a:solidFill>
                  <a:srgbClr val="F0F9FF"/>
                </a:solidFill>
                <a:latin typeface="Inter"/>
              </a:rPr>
              <a:t> </a:t>
            </a:r>
            <a:r>
              <a:rPr sz="1500" b="0" i="0" u="none" dirty="0" err="1">
                <a:solidFill>
                  <a:srgbClr val="F0F9FF"/>
                </a:solidFill>
                <a:latin typeface="Inter"/>
              </a:rPr>
              <a:t>üretilmez</a:t>
            </a:r>
            <a:r>
              <a:rPr sz="1500" b="0" i="0" u="none" dirty="0">
                <a:solidFill>
                  <a:srgbClr val="F0F9FF"/>
                </a:solidFill>
                <a:latin typeface="Inter"/>
              </a:rPr>
              <a:t>; </a:t>
            </a:r>
            <a:r>
              <a:rPr sz="1500" b="0" i="0" u="none" dirty="0" err="1">
                <a:solidFill>
                  <a:srgbClr val="F0F9FF"/>
                </a:solidFill>
                <a:latin typeface="Inter"/>
              </a:rPr>
              <a:t>destekleyici</a:t>
            </a:r>
            <a:r>
              <a:rPr sz="1500" b="0" i="0" u="none" dirty="0">
                <a:solidFill>
                  <a:srgbClr val="F0F9FF"/>
                </a:solidFill>
                <a:latin typeface="Inter"/>
              </a:rPr>
              <a:t> ve </a:t>
            </a:r>
            <a:r>
              <a:rPr sz="1500" b="0" i="0" u="none" dirty="0" err="1">
                <a:solidFill>
                  <a:srgbClr val="F0F9FF"/>
                </a:solidFill>
                <a:latin typeface="Inter"/>
              </a:rPr>
              <a:t>tarafsız</a:t>
            </a:r>
            <a:r>
              <a:rPr sz="1500" b="0" i="0" u="none" dirty="0">
                <a:solidFill>
                  <a:srgbClr val="F0F9FF"/>
                </a:solidFill>
                <a:latin typeface="Inter"/>
              </a:rPr>
              <a:t> ton </a:t>
            </a:r>
            <a:r>
              <a:rPr sz="1500" b="0" i="0" u="none" dirty="0" err="1">
                <a:solidFill>
                  <a:srgbClr val="F0F9FF"/>
                </a:solidFill>
                <a:latin typeface="Inter"/>
              </a:rPr>
              <a:t>kullanılır</a:t>
            </a:r>
            <a:r>
              <a:rPr sz="1500" b="0" i="0" u="none" dirty="0">
                <a:solidFill>
                  <a:srgbClr val="F0F9FF"/>
                </a:solidFill>
                <a:latin typeface="Inter"/>
              </a:rPr>
              <a:t>.</a:t>
            </a:r>
          </a:p>
        </p:txBody>
      </p:sp>
      <p:pic>
        <p:nvPicPr>
          <p:cNvPr id="9" name="Picture 8" descr="image.png">
            <a:extLst>
              <a:ext uri="{FF2B5EF4-FFF2-40B4-BE49-F238E27FC236}">
                <a16:creationId xmlns:a16="http://schemas.microsoft.com/office/drawing/2014/main" id="{0924943B-1173-28EF-CB3E-0235E8786A1C}"/>
              </a:ext>
            </a:extLst>
          </p:cNvPr>
          <p:cNvPicPr>
            <a:picLocks noChangeAspect="1"/>
          </p:cNvPicPr>
          <p:nvPr/>
        </p:nvPicPr>
        <p:blipFill>
          <a:blip r:embed="rId3"/>
          <a:stretch>
            <a:fillRect/>
          </a:stretch>
        </p:blipFill>
        <p:spPr>
          <a:xfrm>
            <a:off x="571500" y="1552575"/>
            <a:ext cx="228600" cy="247650"/>
          </a:xfrm>
          <a:prstGeom prst="rect">
            <a:avLst/>
          </a:prstGeom>
        </p:spPr>
      </p:pic>
      <p:pic>
        <p:nvPicPr>
          <p:cNvPr id="10" name="Picture 9" descr="image.png">
            <a:extLst>
              <a:ext uri="{FF2B5EF4-FFF2-40B4-BE49-F238E27FC236}">
                <a16:creationId xmlns:a16="http://schemas.microsoft.com/office/drawing/2014/main" id="{9661FCD6-71B1-9CFD-E76F-526868BBE6B3}"/>
              </a:ext>
            </a:extLst>
          </p:cNvPr>
          <p:cNvPicPr>
            <a:picLocks noChangeAspect="1"/>
          </p:cNvPicPr>
          <p:nvPr/>
        </p:nvPicPr>
        <p:blipFill>
          <a:blip r:embed="rId4"/>
          <a:stretch>
            <a:fillRect/>
          </a:stretch>
        </p:blipFill>
        <p:spPr>
          <a:xfrm>
            <a:off x="571500" y="2705100"/>
            <a:ext cx="200025" cy="247650"/>
          </a:xfrm>
          <a:prstGeom prst="rect">
            <a:avLst/>
          </a:prstGeom>
        </p:spPr>
      </p:pic>
      <p:pic>
        <p:nvPicPr>
          <p:cNvPr id="11" name="Picture 10" descr="image.png">
            <a:extLst>
              <a:ext uri="{FF2B5EF4-FFF2-40B4-BE49-F238E27FC236}">
                <a16:creationId xmlns:a16="http://schemas.microsoft.com/office/drawing/2014/main" id="{07B30FD8-2613-A485-F39D-8954152FC50A}"/>
              </a:ext>
            </a:extLst>
          </p:cNvPr>
          <p:cNvPicPr>
            <a:picLocks noChangeAspect="1"/>
          </p:cNvPicPr>
          <p:nvPr/>
        </p:nvPicPr>
        <p:blipFill>
          <a:blip r:embed="rId5"/>
          <a:stretch>
            <a:fillRect/>
          </a:stretch>
        </p:blipFill>
        <p:spPr>
          <a:xfrm>
            <a:off x="542925" y="3765708"/>
            <a:ext cx="285750" cy="247650"/>
          </a:xfrm>
          <a:prstGeom prst="rect">
            <a:avLst/>
          </a:prstGeom>
        </p:spPr>
      </p:pic>
      <p:pic>
        <p:nvPicPr>
          <p:cNvPr id="12" name="Resim 11">
            <a:extLst>
              <a:ext uri="{FF2B5EF4-FFF2-40B4-BE49-F238E27FC236}">
                <a16:creationId xmlns:a16="http://schemas.microsoft.com/office/drawing/2014/main" id="{642CFC8D-CA87-2491-599D-4D238FED33B4}"/>
              </a:ext>
            </a:extLst>
          </p:cNvPr>
          <p:cNvPicPr>
            <a:picLocks noChangeAspect="1"/>
          </p:cNvPicPr>
          <p:nvPr/>
        </p:nvPicPr>
        <p:blipFill>
          <a:blip r:embed="rId6"/>
          <a:stretch>
            <a:fillRect/>
          </a:stretch>
        </p:blipFill>
        <p:spPr>
          <a:xfrm>
            <a:off x="6787012" y="810865"/>
            <a:ext cx="5034873" cy="2618134"/>
          </a:xfrm>
          <a:prstGeom prst="rect">
            <a:avLst/>
          </a:prstGeom>
        </p:spPr>
      </p:pic>
      <p:pic>
        <p:nvPicPr>
          <p:cNvPr id="14" name="Resim 13">
            <a:extLst>
              <a:ext uri="{FF2B5EF4-FFF2-40B4-BE49-F238E27FC236}">
                <a16:creationId xmlns:a16="http://schemas.microsoft.com/office/drawing/2014/main" id="{5D911C00-0D37-0989-0D90-7AEAF3B1DD49}"/>
              </a:ext>
            </a:extLst>
          </p:cNvPr>
          <p:cNvPicPr>
            <a:picLocks noChangeAspect="1"/>
          </p:cNvPicPr>
          <p:nvPr/>
        </p:nvPicPr>
        <p:blipFill>
          <a:blip r:embed="rId7"/>
          <a:stretch>
            <a:fillRect/>
          </a:stretch>
        </p:blipFill>
        <p:spPr>
          <a:xfrm>
            <a:off x="6787012" y="3765708"/>
            <a:ext cx="5034873" cy="2281427"/>
          </a:xfrm>
          <a:prstGeom prst="rect">
            <a:avLst/>
          </a:prstGeom>
        </p:spPr>
      </p:pic>
    </p:spTree>
    <p:extLst>
      <p:ext uri="{BB962C8B-B14F-4D97-AF65-F5344CB8AC3E}">
        <p14:creationId xmlns:p14="http://schemas.microsoft.com/office/powerpoint/2010/main" val="15388066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A58F2-A3B5-63B7-1814-2EAC50C4C6DE}"/>
            </a:ext>
          </a:extLst>
        </p:cNvPr>
        <p:cNvGrpSpPr/>
        <p:nvPr/>
      </p:nvGrpSpPr>
      <p:grpSpPr>
        <a:xfrm>
          <a:off x="0" y="0"/>
          <a:ext cx="0" cy="0"/>
          <a:chOff x="0" y="0"/>
          <a:chExt cx="0" cy="0"/>
        </a:xfrm>
      </p:grpSpPr>
      <p:pic>
        <p:nvPicPr>
          <p:cNvPr id="2" name="Picture 1" descr="image.png">
            <a:extLst>
              <a:ext uri="{FF2B5EF4-FFF2-40B4-BE49-F238E27FC236}">
                <a16:creationId xmlns:a16="http://schemas.microsoft.com/office/drawing/2014/main" id="{A2C52636-D64C-6B70-94A6-6FE39D43A462}"/>
              </a:ext>
            </a:extLst>
          </p:cNvPr>
          <p:cNvPicPr>
            <a:picLocks noChangeAspect="1"/>
          </p:cNvPicPr>
          <p:nvPr/>
        </p:nvPicPr>
        <p:blipFill>
          <a:blip r:embed="rId2"/>
          <a:stretch>
            <a:fillRect/>
          </a:stretch>
        </p:blipFill>
        <p:spPr>
          <a:xfrm>
            <a:off x="0" y="0"/>
            <a:ext cx="12192000" cy="6858000"/>
          </a:xfrm>
          <a:prstGeom prst="rect">
            <a:avLst/>
          </a:prstGeom>
        </p:spPr>
      </p:pic>
      <p:sp>
        <p:nvSpPr>
          <p:cNvPr id="4" name="TextBox 3">
            <a:extLst>
              <a:ext uri="{FF2B5EF4-FFF2-40B4-BE49-F238E27FC236}">
                <a16:creationId xmlns:a16="http://schemas.microsoft.com/office/drawing/2014/main" id="{48DD7006-2BA7-94E8-D921-7C71156AAF01}"/>
              </a:ext>
            </a:extLst>
          </p:cNvPr>
          <p:cNvSpPr txBox="1"/>
          <p:nvPr/>
        </p:nvSpPr>
        <p:spPr>
          <a:xfrm>
            <a:off x="571500" y="571500"/>
            <a:ext cx="11601450" cy="461665"/>
          </a:xfrm>
          <a:prstGeom prst="rect">
            <a:avLst/>
          </a:prstGeom>
          <a:noFill/>
        </p:spPr>
        <p:txBody>
          <a:bodyPr wrap="square" lIns="0" tIns="0" rIns="0" bIns="0" anchor="t">
            <a:spAutoFit/>
          </a:bodyPr>
          <a:lstStyle/>
          <a:p>
            <a:pPr algn="l"/>
            <a:r>
              <a:rPr lang="tr-TR" sz="3000" b="1" i="0" u="none" dirty="0">
                <a:solidFill>
                  <a:srgbClr val="38BDF8"/>
                </a:solidFill>
                <a:latin typeface="Poppins"/>
              </a:rPr>
              <a:t>KVKK ve Veri Güvenliği</a:t>
            </a:r>
            <a:endParaRPr sz="3000" b="1" i="0" u="none" dirty="0">
              <a:solidFill>
                <a:srgbClr val="38BDF8"/>
              </a:solidFill>
              <a:latin typeface="Poppins"/>
            </a:endParaRPr>
          </a:p>
        </p:txBody>
      </p:sp>
      <p:sp>
        <p:nvSpPr>
          <p:cNvPr id="8" name="Metin kutusu 7">
            <a:extLst>
              <a:ext uri="{FF2B5EF4-FFF2-40B4-BE49-F238E27FC236}">
                <a16:creationId xmlns:a16="http://schemas.microsoft.com/office/drawing/2014/main" id="{F5AA09A2-9843-8A9B-5863-2BA7F069CBAD}"/>
              </a:ext>
            </a:extLst>
          </p:cNvPr>
          <p:cNvSpPr txBox="1"/>
          <p:nvPr/>
        </p:nvSpPr>
        <p:spPr>
          <a:xfrm>
            <a:off x="571500" y="1714500"/>
            <a:ext cx="5128356" cy="1200329"/>
          </a:xfrm>
          <a:prstGeom prst="rect">
            <a:avLst/>
          </a:prstGeom>
          <a:noFill/>
        </p:spPr>
        <p:txBody>
          <a:bodyPr wrap="square">
            <a:spAutoFit/>
          </a:bodyPr>
          <a:lstStyle/>
          <a:p>
            <a:r>
              <a:rPr lang="tr-TR" b="1" dirty="0">
                <a:solidFill>
                  <a:schemeClr val="bg1"/>
                </a:solidFill>
              </a:rPr>
              <a:t>VERİ KONTROLÜ VE HAKLAR:</a:t>
            </a:r>
            <a:r>
              <a:rPr lang="tr-TR" dirty="0">
                <a:solidFill>
                  <a:schemeClr val="bg1"/>
                </a:solidFill>
              </a:rPr>
              <a:t> Kullanıcılar KVKK (m.7, m.10, m.11) uyarınca istedikleri an açık rızalarını geri alabilir, verilerini JSON formatında indirebilir veya kalıcı olarak silebilir.</a:t>
            </a:r>
          </a:p>
        </p:txBody>
      </p:sp>
      <p:pic>
        <p:nvPicPr>
          <p:cNvPr id="13" name="Resim 12">
            <a:extLst>
              <a:ext uri="{FF2B5EF4-FFF2-40B4-BE49-F238E27FC236}">
                <a16:creationId xmlns:a16="http://schemas.microsoft.com/office/drawing/2014/main" id="{0922F0E5-1A5E-AB59-49AF-125E715AC47D}"/>
              </a:ext>
            </a:extLst>
          </p:cNvPr>
          <p:cNvPicPr>
            <a:picLocks noChangeAspect="1"/>
          </p:cNvPicPr>
          <p:nvPr/>
        </p:nvPicPr>
        <p:blipFill>
          <a:blip r:embed="rId3"/>
          <a:stretch>
            <a:fillRect/>
          </a:stretch>
        </p:blipFill>
        <p:spPr>
          <a:xfrm>
            <a:off x="5809605" y="571500"/>
            <a:ext cx="6272646" cy="5315326"/>
          </a:xfrm>
          <a:prstGeom prst="rect">
            <a:avLst/>
          </a:prstGeom>
        </p:spPr>
      </p:pic>
    </p:spTree>
    <p:extLst>
      <p:ext uri="{BB962C8B-B14F-4D97-AF65-F5344CB8AC3E}">
        <p14:creationId xmlns:p14="http://schemas.microsoft.com/office/powerpoint/2010/main" val="2269128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571500"/>
            <a:ext cx="11601450" cy="571500"/>
          </a:xfrm>
          <a:prstGeom prst="rect">
            <a:avLst/>
          </a:prstGeom>
          <a:noFill/>
        </p:spPr>
        <p:txBody>
          <a:bodyPr wrap="square" lIns="0" tIns="0" rIns="0" bIns="0" anchor="t">
            <a:spAutoFit/>
          </a:bodyPr>
          <a:lstStyle/>
          <a:p>
            <a:pPr algn="l"/>
            <a:r>
              <a:rPr sz="3000" b="1" i="0" u="none">
                <a:solidFill>
                  <a:srgbClr val="38BDF8"/>
                </a:solidFill>
                <a:latin typeface="Poppins"/>
              </a:rPr>
              <a:t>Bu Sadece Bir Demo - Neyi Geliştirebiliriz?</a:t>
            </a:r>
          </a:p>
        </p:txBody>
      </p:sp>
      <p:sp>
        <p:nvSpPr>
          <p:cNvPr id="4" name="TextBox 3"/>
          <p:cNvSpPr txBox="1"/>
          <p:nvPr/>
        </p:nvSpPr>
        <p:spPr>
          <a:xfrm>
            <a:off x="2995612" y="2276475"/>
            <a:ext cx="662940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Gerçek kullanım verisi:</a:t>
            </a:r>
            <a:r>
              <a:rPr sz="1500" b="0" i="0" u="none">
                <a:solidFill>
                  <a:srgbClr val="F0F9FF"/>
                </a:solidFill>
                <a:latin typeface="Inter"/>
              </a:rPr>
              <a:t> Ekran süresi entegrasyonu (izinli, gizlilik odaklı).</a:t>
            </a:r>
          </a:p>
        </p:txBody>
      </p:sp>
      <p:sp>
        <p:nvSpPr>
          <p:cNvPr id="5" name="TextBox 4"/>
          <p:cNvSpPr txBox="1"/>
          <p:nvPr/>
        </p:nvSpPr>
        <p:spPr>
          <a:xfrm>
            <a:off x="2995612" y="2819400"/>
            <a:ext cx="662940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Kişiselleştirme:</a:t>
            </a:r>
            <a:r>
              <a:rPr sz="1500" b="0" i="0" u="none">
                <a:solidFill>
                  <a:srgbClr val="F0F9FF"/>
                </a:solidFill>
                <a:latin typeface="Inter"/>
              </a:rPr>
              <a:t> Kullanıcı hedefine göre daha iyi öneriler.</a:t>
            </a:r>
          </a:p>
        </p:txBody>
      </p:sp>
      <p:sp>
        <p:nvSpPr>
          <p:cNvPr id="6" name="TextBox 5"/>
          <p:cNvSpPr txBox="1"/>
          <p:nvPr/>
        </p:nvSpPr>
        <p:spPr>
          <a:xfrm>
            <a:off x="2995612" y="3362325"/>
            <a:ext cx="662940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AI değerlendirmesi:</a:t>
            </a:r>
            <a:r>
              <a:rPr sz="1500" b="0" i="0" u="none">
                <a:solidFill>
                  <a:srgbClr val="F0F9FF"/>
                </a:solidFill>
                <a:latin typeface="Inter"/>
              </a:rPr>
              <a:t> Prompt testleri, güvenlik kontrolleri.</a:t>
            </a:r>
          </a:p>
        </p:txBody>
      </p:sp>
      <p:sp>
        <p:nvSpPr>
          <p:cNvPr id="7" name="TextBox 6"/>
          <p:cNvSpPr txBox="1"/>
          <p:nvPr/>
        </p:nvSpPr>
        <p:spPr>
          <a:xfrm>
            <a:off x="2995612" y="3905250"/>
            <a:ext cx="662940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Ödül sistemi:</a:t>
            </a:r>
            <a:r>
              <a:rPr sz="1500" b="0" i="0" u="none">
                <a:solidFill>
                  <a:srgbClr val="F0F9FF"/>
                </a:solidFill>
                <a:latin typeface="Inter"/>
              </a:rPr>
              <a:t> Partnerlerle gerçek teşvikler (aşırı oyunlaştırmayı önleyen).</a:t>
            </a:r>
          </a:p>
        </p:txBody>
      </p:sp>
      <p:sp>
        <p:nvSpPr>
          <p:cNvPr id="8" name="TextBox 7"/>
          <p:cNvSpPr txBox="1"/>
          <p:nvPr/>
        </p:nvSpPr>
        <p:spPr>
          <a:xfrm>
            <a:off x="2995612" y="4448175"/>
            <a:ext cx="662940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Uzman doğrulaması:</a:t>
            </a:r>
            <a:r>
              <a:rPr sz="1500" b="0" i="0" u="none">
                <a:solidFill>
                  <a:srgbClr val="F0F9FF"/>
                </a:solidFill>
                <a:latin typeface="Inter"/>
              </a:rPr>
              <a:t> Davranış değişikliği uzmanlarıyla içerik incelemesi.</a:t>
            </a:r>
          </a:p>
        </p:txBody>
      </p:sp>
      <p:sp>
        <p:nvSpPr>
          <p:cNvPr id="9" name="TextBox 8"/>
          <p:cNvSpPr txBox="1"/>
          <p:nvPr/>
        </p:nvSpPr>
        <p:spPr>
          <a:xfrm>
            <a:off x="2995612" y="4991100"/>
            <a:ext cx="6629400" cy="304800"/>
          </a:xfrm>
          <a:prstGeom prst="rect">
            <a:avLst/>
          </a:prstGeom>
          <a:noFill/>
        </p:spPr>
        <p:txBody>
          <a:bodyPr wrap="square" lIns="0" tIns="0" rIns="0" bIns="0" anchor="t">
            <a:spAutoFit/>
          </a:bodyPr>
          <a:lstStyle/>
          <a:p>
            <a:pPr algn="l">
              <a:lnSpc>
                <a:spcPts val="2400"/>
              </a:lnSpc>
            </a:pPr>
            <a:r>
              <a:rPr sz="1500" b="1" i="0" u="none">
                <a:solidFill>
                  <a:srgbClr val="F0F9FF"/>
                </a:solidFill>
                <a:latin typeface="Inter"/>
              </a:rPr>
              <a:t>Erişilebilirlik:</a:t>
            </a:r>
            <a:r>
              <a:rPr sz="1500" b="0" i="0" u="none">
                <a:solidFill>
                  <a:srgbClr val="F0F9FF"/>
                </a:solidFill>
                <a:latin typeface="Inter"/>
              </a:rPr>
              <a:t> Farklı yaş ve ihtiyaç grupları için kapsayıcı arayüz.</a:t>
            </a:r>
          </a:p>
        </p:txBody>
      </p:sp>
      <p:pic>
        <p:nvPicPr>
          <p:cNvPr id="10" name="Picture 9" descr="image.png"/>
          <p:cNvPicPr>
            <a:picLocks noChangeAspect="1"/>
          </p:cNvPicPr>
          <p:nvPr/>
        </p:nvPicPr>
        <p:blipFill>
          <a:blip r:embed="rId3"/>
          <a:stretch>
            <a:fillRect/>
          </a:stretch>
        </p:blipFill>
        <p:spPr>
          <a:xfrm>
            <a:off x="2566987" y="2305050"/>
            <a:ext cx="200025" cy="247650"/>
          </a:xfrm>
          <a:prstGeom prst="rect">
            <a:avLst/>
          </a:prstGeom>
        </p:spPr>
      </p:pic>
      <p:pic>
        <p:nvPicPr>
          <p:cNvPr id="11" name="Picture 10" descr="image.png"/>
          <p:cNvPicPr>
            <a:picLocks noChangeAspect="1"/>
          </p:cNvPicPr>
          <p:nvPr/>
        </p:nvPicPr>
        <p:blipFill>
          <a:blip r:embed="rId3"/>
          <a:stretch>
            <a:fillRect/>
          </a:stretch>
        </p:blipFill>
        <p:spPr>
          <a:xfrm>
            <a:off x="2566987" y="2847975"/>
            <a:ext cx="200025" cy="247650"/>
          </a:xfrm>
          <a:prstGeom prst="rect">
            <a:avLst/>
          </a:prstGeom>
        </p:spPr>
      </p:pic>
      <p:pic>
        <p:nvPicPr>
          <p:cNvPr id="12" name="Picture 11" descr="image.png"/>
          <p:cNvPicPr>
            <a:picLocks noChangeAspect="1"/>
          </p:cNvPicPr>
          <p:nvPr/>
        </p:nvPicPr>
        <p:blipFill>
          <a:blip r:embed="rId3"/>
          <a:stretch>
            <a:fillRect/>
          </a:stretch>
        </p:blipFill>
        <p:spPr>
          <a:xfrm>
            <a:off x="2566987" y="3390900"/>
            <a:ext cx="200025" cy="247650"/>
          </a:xfrm>
          <a:prstGeom prst="rect">
            <a:avLst/>
          </a:prstGeom>
        </p:spPr>
      </p:pic>
      <p:pic>
        <p:nvPicPr>
          <p:cNvPr id="13" name="Picture 12" descr="image.png"/>
          <p:cNvPicPr>
            <a:picLocks noChangeAspect="1"/>
          </p:cNvPicPr>
          <p:nvPr/>
        </p:nvPicPr>
        <p:blipFill>
          <a:blip r:embed="rId3"/>
          <a:stretch>
            <a:fillRect/>
          </a:stretch>
        </p:blipFill>
        <p:spPr>
          <a:xfrm>
            <a:off x="2566987" y="3933825"/>
            <a:ext cx="200025" cy="247650"/>
          </a:xfrm>
          <a:prstGeom prst="rect">
            <a:avLst/>
          </a:prstGeom>
        </p:spPr>
      </p:pic>
      <p:pic>
        <p:nvPicPr>
          <p:cNvPr id="14" name="Picture 13" descr="image.png"/>
          <p:cNvPicPr>
            <a:picLocks noChangeAspect="1"/>
          </p:cNvPicPr>
          <p:nvPr/>
        </p:nvPicPr>
        <p:blipFill>
          <a:blip r:embed="rId3"/>
          <a:stretch>
            <a:fillRect/>
          </a:stretch>
        </p:blipFill>
        <p:spPr>
          <a:xfrm>
            <a:off x="2566987" y="4476750"/>
            <a:ext cx="200025" cy="247650"/>
          </a:xfrm>
          <a:prstGeom prst="rect">
            <a:avLst/>
          </a:prstGeom>
        </p:spPr>
      </p:pic>
      <p:pic>
        <p:nvPicPr>
          <p:cNvPr id="15" name="Picture 14" descr="image.png"/>
          <p:cNvPicPr>
            <a:picLocks noChangeAspect="1"/>
          </p:cNvPicPr>
          <p:nvPr/>
        </p:nvPicPr>
        <p:blipFill>
          <a:blip r:embed="rId3"/>
          <a:stretch>
            <a:fillRect/>
          </a:stretch>
        </p:blipFill>
        <p:spPr>
          <a:xfrm>
            <a:off x="2566987" y="5019675"/>
            <a:ext cx="200025" cy="2476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4"/>
          <a:stretch>
            <a:fillRect/>
          </a:stretch>
        </p:blipFill>
        <p:spPr>
          <a:xfrm>
            <a:off x="1538287" y="3549844"/>
            <a:ext cx="2409825" cy="695325"/>
          </a:xfrm>
          <a:prstGeom prst="rect">
            <a:avLst/>
          </a:prstGeom>
        </p:spPr>
      </p:pic>
      <p:pic>
        <p:nvPicPr>
          <p:cNvPr id="5" name="Picture 4" descr="image.png"/>
          <p:cNvPicPr>
            <a:picLocks noChangeAspect="1"/>
          </p:cNvPicPr>
          <p:nvPr/>
        </p:nvPicPr>
        <p:blipFill>
          <a:blip r:embed="rId5"/>
          <a:stretch>
            <a:fillRect/>
          </a:stretch>
        </p:blipFill>
        <p:spPr>
          <a:xfrm>
            <a:off x="8457477" y="3549845"/>
            <a:ext cx="1943100" cy="695325"/>
          </a:xfrm>
          <a:prstGeom prst="rect">
            <a:avLst/>
          </a:prstGeom>
        </p:spPr>
      </p:pic>
      <p:pic>
        <p:nvPicPr>
          <p:cNvPr id="6" name="Picture 5" descr="image.png"/>
          <p:cNvPicPr>
            <a:picLocks noChangeAspect="1"/>
          </p:cNvPicPr>
          <p:nvPr/>
        </p:nvPicPr>
        <p:blipFill>
          <a:blip r:embed="rId6"/>
          <a:stretch>
            <a:fillRect/>
          </a:stretch>
        </p:blipFill>
        <p:spPr>
          <a:xfrm>
            <a:off x="4381500" y="3549846"/>
            <a:ext cx="3429000" cy="695325"/>
          </a:xfrm>
          <a:prstGeom prst="rect">
            <a:avLst/>
          </a:prstGeom>
        </p:spPr>
      </p:pic>
      <p:sp>
        <p:nvSpPr>
          <p:cNvPr id="7" name="TextBox 6"/>
          <p:cNvSpPr txBox="1"/>
          <p:nvPr/>
        </p:nvSpPr>
        <p:spPr>
          <a:xfrm>
            <a:off x="1095375" y="1575867"/>
            <a:ext cx="10001250" cy="857250"/>
          </a:xfrm>
          <a:prstGeom prst="rect">
            <a:avLst/>
          </a:prstGeom>
          <a:noFill/>
        </p:spPr>
        <p:txBody>
          <a:bodyPr wrap="square" lIns="0" tIns="0" rIns="0" bIns="0" anchor="t">
            <a:spAutoFit/>
          </a:bodyPr>
          <a:lstStyle/>
          <a:p>
            <a:pPr algn="ctr"/>
            <a:r>
              <a:rPr sz="4500" b="1" i="0" u="none">
                <a:solidFill>
                  <a:srgbClr val="38BDF8"/>
                </a:solidFill>
                <a:latin typeface="Poppins"/>
              </a:rPr>
              <a:t>Biz Kimiz?</a:t>
            </a:r>
          </a:p>
        </p:txBody>
      </p:sp>
      <p:sp>
        <p:nvSpPr>
          <p:cNvPr id="8" name="TextBox 7"/>
          <p:cNvSpPr txBox="1"/>
          <p:nvPr/>
        </p:nvSpPr>
        <p:spPr>
          <a:xfrm>
            <a:off x="1333500" y="2663130"/>
            <a:ext cx="9525000" cy="426690"/>
          </a:xfrm>
          <a:prstGeom prst="rect">
            <a:avLst/>
          </a:prstGeom>
          <a:noFill/>
        </p:spPr>
        <p:txBody>
          <a:bodyPr wrap="square" lIns="0" tIns="0" rIns="0" bIns="0" anchor="t">
            <a:spAutoFit/>
          </a:bodyPr>
          <a:lstStyle/>
          <a:p>
            <a:pPr algn="ctr">
              <a:lnSpc>
                <a:spcPts val="3359"/>
              </a:lnSpc>
            </a:pPr>
            <a:r>
              <a:rPr sz="2100" b="0" i="0" u="none" dirty="0">
                <a:solidFill>
                  <a:srgbClr val="7DD3FC"/>
                </a:solidFill>
                <a:latin typeface="Inter SemiBold"/>
              </a:rPr>
              <a:t>Samsung Innovation Campus Generative AI Hackathon — </a:t>
            </a:r>
            <a:r>
              <a:rPr sz="2100" b="0" i="0" u="none" dirty="0" err="1">
                <a:solidFill>
                  <a:srgbClr val="7DD3FC"/>
                </a:solidFill>
                <a:latin typeface="Inter SemiBold"/>
              </a:rPr>
              <a:t>Grup</a:t>
            </a:r>
            <a:r>
              <a:rPr sz="2100" b="0" i="0" u="none" dirty="0">
                <a:solidFill>
                  <a:srgbClr val="7DD3FC"/>
                </a:solidFill>
                <a:latin typeface="Inter SemiBold"/>
              </a:rPr>
              <a:t> 8</a:t>
            </a:r>
          </a:p>
        </p:txBody>
      </p:sp>
      <p:sp>
        <p:nvSpPr>
          <p:cNvPr id="12" name="TextBox 3">
            <a:extLst>
              <a:ext uri="{FF2B5EF4-FFF2-40B4-BE49-F238E27FC236}">
                <a16:creationId xmlns:a16="http://schemas.microsoft.com/office/drawing/2014/main" id="{8C71AEE3-E3A4-6306-4ED8-DDBAE936146E}"/>
              </a:ext>
            </a:extLst>
          </p:cNvPr>
          <p:cNvSpPr txBox="1"/>
          <p:nvPr/>
        </p:nvSpPr>
        <p:spPr>
          <a:xfrm>
            <a:off x="1656233" y="4336324"/>
            <a:ext cx="2909888" cy="589392"/>
          </a:xfrm>
          <a:prstGeom prst="rect">
            <a:avLst/>
          </a:prstGeom>
          <a:noFill/>
        </p:spPr>
        <p:txBody>
          <a:bodyPr wrap="square" lIns="0" tIns="0" rIns="0" bIns="0" anchor="t">
            <a:spAutoFit/>
          </a:bodyPr>
          <a:lstStyle/>
          <a:p>
            <a:pPr algn="l">
              <a:lnSpc>
                <a:spcPts val="2400"/>
              </a:lnSpc>
            </a:pPr>
            <a:r>
              <a:rPr lang="tr-TR" sz="1500" b="0" i="0" u="none" dirty="0">
                <a:solidFill>
                  <a:srgbClr val="F0F9FF"/>
                </a:solidFill>
                <a:latin typeface="Inter"/>
              </a:rPr>
              <a:t>Raporlama – Video Editör – </a:t>
            </a:r>
          </a:p>
          <a:p>
            <a:pPr algn="l">
              <a:lnSpc>
                <a:spcPts val="2400"/>
              </a:lnSpc>
            </a:pPr>
            <a:r>
              <a:rPr lang="tr-TR" sz="1500" b="0" i="0" u="none" dirty="0">
                <a:solidFill>
                  <a:srgbClr val="F0F9FF"/>
                </a:solidFill>
                <a:latin typeface="Inter"/>
              </a:rPr>
              <a:t>İçerik Üretimi</a:t>
            </a:r>
            <a:endParaRPr sz="1500" b="0" i="0" u="none" dirty="0">
              <a:solidFill>
                <a:srgbClr val="F0F9FF"/>
              </a:solidFill>
              <a:latin typeface="Inter"/>
            </a:endParaRPr>
          </a:p>
        </p:txBody>
      </p:sp>
      <p:sp>
        <p:nvSpPr>
          <p:cNvPr id="14" name="TextBox 3">
            <a:extLst>
              <a:ext uri="{FF2B5EF4-FFF2-40B4-BE49-F238E27FC236}">
                <a16:creationId xmlns:a16="http://schemas.microsoft.com/office/drawing/2014/main" id="{15147A83-84C4-EBFD-74A4-6FE6D48B3187}"/>
              </a:ext>
            </a:extLst>
          </p:cNvPr>
          <p:cNvSpPr txBox="1"/>
          <p:nvPr/>
        </p:nvSpPr>
        <p:spPr>
          <a:xfrm>
            <a:off x="4823000" y="4336324"/>
            <a:ext cx="2909888" cy="589392"/>
          </a:xfrm>
          <a:prstGeom prst="rect">
            <a:avLst/>
          </a:prstGeom>
          <a:noFill/>
        </p:spPr>
        <p:txBody>
          <a:bodyPr wrap="square" lIns="0" tIns="0" rIns="0" bIns="0" anchor="t">
            <a:spAutoFit/>
          </a:bodyPr>
          <a:lstStyle/>
          <a:p>
            <a:pPr algn="l">
              <a:lnSpc>
                <a:spcPts val="2400"/>
              </a:lnSpc>
            </a:pPr>
            <a:r>
              <a:rPr lang="tr-TR" sz="1500" b="0" i="0" u="none" dirty="0">
                <a:solidFill>
                  <a:srgbClr val="F0F9FF"/>
                </a:solidFill>
                <a:latin typeface="Inter"/>
              </a:rPr>
              <a:t>Uygulama Geliştiricisi – Demo Kaydı – </a:t>
            </a:r>
          </a:p>
          <a:p>
            <a:pPr algn="l">
              <a:lnSpc>
                <a:spcPts val="2400"/>
              </a:lnSpc>
            </a:pPr>
            <a:r>
              <a:rPr lang="tr-TR" sz="1500" b="0" i="0" u="none" dirty="0">
                <a:solidFill>
                  <a:srgbClr val="F0F9FF"/>
                </a:solidFill>
                <a:latin typeface="Inter"/>
              </a:rPr>
              <a:t>İçerik Üretimi</a:t>
            </a:r>
            <a:endParaRPr sz="1500" b="0" i="0" u="none" dirty="0">
              <a:solidFill>
                <a:srgbClr val="F0F9FF"/>
              </a:solidFill>
              <a:latin typeface="Inter"/>
            </a:endParaRPr>
          </a:p>
        </p:txBody>
      </p:sp>
      <p:sp>
        <p:nvSpPr>
          <p:cNvPr id="16" name="TextBox 3">
            <a:extLst>
              <a:ext uri="{FF2B5EF4-FFF2-40B4-BE49-F238E27FC236}">
                <a16:creationId xmlns:a16="http://schemas.microsoft.com/office/drawing/2014/main" id="{03238B24-1BD1-98FE-26ED-6C16F282F2A5}"/>
              </a:ext>
            </a:extLst>
          </p:cNvPr>
          <p:cNvSpPr txBox="1"/>
          <p:nvPr/>
        </p:nvSpPr>
        <p:spPr>
          <a:xfrm>
            <a:off x="9213171" y="4349404"/>
            <a:ext cx="2909888" cy="281616"/>
          </a:xfrm>
          <a:prstGeom prst="rect">
            <a:avLst/>
          </a:prstGeom>
          <a:noFill/>
        </p:spPr>
        <p:txBody>
          <a:bodyPr wrap="square" lIns="0" tIns="0" rIns="0" bIns="0" anchor="t">
            <a:spAutoFit/>
          </a:bodyPr>
          <a:lstStyle/>
          <a:p>
            <a:pPr algn="l">
              <a:lnSpc>
                <a:spcPts val="2400"/>
              </a:lnSpc>
            </a:pPr>
            <a:r>
              <a:rPr lang="tr-TR" sz="1500" b="0" i="0" u="none" dirty="0">
                <a:solidFill>
                  <a:srgbClr val="F0F9FF"/>
                </a:solidFill>
                <a:latin typeface="Inter"/>
              </a:rPr>
              <a:t>Sunum</a:t>
            </a:r>
            <a:endParaRPr sz="1500" b="0" i="0" u="none" dirty="0">
              <a:solidFill>
                <a:srgbClr val="F0F9FF"/>
              </a:solidFill>
              <a:latin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19051" y="-76473"/>
            <a:ext cx="12476377" cy="7017962"/>
          </a:xfrm>
          <a:prstGeom prst="rect">
            <a:avLst/>
          </a:prstGeom>
        </p:spPr>
      </p:pic>
      <p:sp>
        <p:nvSpPr>
          <p:cNvPr id="3" name="TextBox 2"/>
          <p:cNvSpPr txBox="1"/>
          <p:nvPr/>
        </p:nvSpPr>
        <p:spPr>
          <a:xfrm>
            <a:off x="2971800" y="833252"/>
            <a:ext cx="11601450" cy="571500"/>
          </a:xfrm>
          <a:prstGeom prst="rect">
            <a:avLst/>
          </a:prstGeom>
          <a:noFill/>
        </p:spPr>
        <p:txBody>
          <a:bodyPr wrap="square" lIns="0" tIns="0" rIns="0" bIns="0" anchor="t">
            <a:spAutoFit/>
          </a:bodyPr>
          <a:lstStyle/>
          <a:p>
            <a:pPr algn="l"/>
            <a:r>
              <a:rPr sz="3000" b="1" i="0" u="none" dirty="0" err="1">
                <a:solidFill>
                  <a:srgbClr val="38BDF8"/>
                </a:solidFill>
                <a:latin typeface="Poppins"/>
              </a:rPr>
              <a:t>Kaynakça</a:t>
            </a:r>
            <a:r>
              <a:rPr sz="3000" b="1" i="0" u="none" dirty="0">
                <a:solidFill>
                  <a:srgbClr val="38BDF8"/>
                </a:solidFill>
                <a:latin typeface="Poppins"/>
              </a:rPr>
              <a:t> ve </a:t>
            </a:r>
            <a:r>
              <a:rPr sz="3000" b="1" i="0" u="none" dirty="0" err="1">
                <a:solidFill>
                  <a:srgbClr val="38BDF8"/>
                </a:solidFill>
                <a:latin typeface="Poppins"/>
              </a:rPr>
              <a:t>Proje</a:t>
            </a:r>
            <a:r>
              <a:rPr sz="3000" b="1" i="0" u="none" dirty="0">
                <a:solidFill>
                  <a:srgbClr val="38BDF8"/>
                </a:solidFill>
                <a:latin typeface="Poppins"/>
              </a:rPr>
              <a:t> </a:t>
            </a:r>
            <a:r>
              <a:rPr sz="3000" b="1" i="0" u="none" dirty="0" err="1">
                <a:solidFill>
                  <a:srgbClr val="38BDF8"/>
                </a:solidFill>
                <a:latin typeface="Poppins"/>
              </a:rPr>
              <a:t>Bağlantıları</a:t>
            </a:r>
            <a:endParaRPr sz="3000" b="1" i="0" u="none" dirty="0">
              <a:solidFill>
                <a:srgbClr val="38BDF8"/>
              </a:solidFill>
              <a:latin typeface="Poppins"/>
            </a:endParaRPr>
          </a:p>
        </p:txBody>
      </p:sp>
      <p:sp>
        <p:nvSpPr>
          <p:cNvPr id="4" name="TextBox 3"/>
          <p:cNvSpPr txBox="1"/>
          <p:nvPr/>
        </p:nvSpPr>
        <p:spPr>
          <a:xfrm>
            <a:off x="3400425" y="2938462"/>
            <a:ext cx="5819775" cy="304800"/>
          </a:xfrm>
          <a:prstGeom prst="rect">
            <a:avLst/>
          </a:prstGeom>
          <a:noFill/>
        </p:spPr>
        <p:txBody>
          <a:bodyPr wrap="square" lIns="0" tIns="0" rIns="0" bIns="0" anchor="t">
            <a:spAutoFit/>
          </a:bodyPr>
          <a:lstStyle/>
          <a:p>
            <a:pPr algn="l">
              <a:lnSpc>
                <a:spcPts val="2400"/>
              </a:lnSpc>
            </a:pPr>
            <a:r>
              <a:rPr sz="1500" b="0" i="0" u="none" dirty="0">
                <a:solidFill>
                  <a:srgbClr val="F0F9FF"/>
                </a:solidFill>
                <a:latin typeface="Inter"/>
              </a:rPr>
              <a:t>Samsung Innovation Campus — Generative AI Hackathon Guide</a:t>
            </a:r>
          </a:p>
        </p:txBody>
      </p:sp>
      <p:sp>
        <p:nvSpPr>
          <p:cNvPr id="5" name="TextBox 4"/>
          <p:cNvSpPr txBox="1"/>
          <p:nvPr/>
        </p:nvSpPr>
        <p:spPr>
          <a:xfrm>
            <a:off x="3400425" y="3481387"/>
            <a:ext cx="5819775" cy="897169"/>
          </a:xfrm>
          <a:prstGeom prst="rect">
            <a:avLst/>
          </a:prstGeom>
          <a:noFill/>
        </p:spPr>
        <p:txBody>
          <a:bodyPr wrap="square" lIns="0" tIns="0" rIns="0" bIns="0" anchor="t">
            <a:spAutoFit/>
          </a:bodyPr>
          <a:lstStyle/>
          <a:p>
            <a:pPr>
              <a:lnSpc>
                <a:spcPts val="2400"/>
              </a:lnSpc>
            </a:pPr>
            <a:r>
              <a:rPr sz="1500" b="0" i="0" u="none" dirty="0">
                <a:solidFill>
                  <a:srgbClr val="F0F9FF"/>
                </a:solidFill>
                <a:latin typeface="Inter"/>
              </a:rPr>
              <a:t> </a:t>
            </a:r>
            <a:r>
              <a:rPr sz="1500" b="0" i="0" u="none" dirty="0" err="1">
                <a:solidFill>
                  <a:srgbClr val="F0F9FF"/>
                </a:solidFill>
                <a:latin typeface="Inter"/>
              </a:rPr>
              <a:t>Sözüm</a:t>
            </a:r>
            <a:r>
              <a:rPr sz="1500" b="0" i="0" u="none" dirty="0">
                <a:solidFill>
                  <a:srgbClr val="F0F9FF"/>
                </a:solidFill>
                <a:latin typeface="Inter"/>
              </a:rPr>
              <a:t> </a:t>
            </a:r>
            <a:r>
              <a:rPr sz="1500" b="0" i="0" u="none" dirty="0" err="1">
                <a:solidFill>
                  <a:srgbClr val="F0F9FF"/>
                </a:solidFill>
                <a:latin typeface="Inter"/>
              </a:rPr>
              <a:t>Söz</a:t>
            </a:r>
            <a:r>
              <a:rPr sz="1500" b="0" i="0" u="none" dirty="0">
                <a:solidFill>
                  <a:srgbClr val="F0F9FF"/>
                </a:solidFill>
                <a:latin typeface="Inter"/>
              </a:rPr>
              <a:t> </a:t>
            </a:r>
            <a:r>
              <a:rPr sz="1500" b="0" i="0" u="none" dirty="0" err="1">
                <a:solidFill>
                  <a:srgbClr val="F0F9FF"/>
                </a:solidFill>
                <a:latin typeface="Inter"/>
              </a:rPr>
              <a:t>Uygulaması</a:t>
            </a:r>
            <a:r>
              <a:rPr sz="1500" b="0" i="0" u="none" dirty="0">
                <a:solidFill>
                  <a:srgbClr val="F0F9FF"/>
                </a:solidFill>
                <a:latin typeface="Inter"/>
              </a:rPr>
              <a:t> — GitHub: </a:t>
            </a:r>
            <a:br>
              <a:rPr lang="tr-TR" sz="1500" b="0" i="0" u="none" dirty="0">
                <a:solidFill>
                  <a:srgbClr val="F0F9FF"/>
                </a:solidFill>
                <a:latin typeface="Inter"/>
              </a:rPr>
            </a:br>
            <a:r>
              <a:rPr lang="tr-TR" sz="1500" b="0" i="0" u="none" dirty="0">
                <a:solidFill>
                  <a:srgbClr val="F0F9FF"/>
                </a:solidFill>
                <a:latin typeface="Inter"/>
              </a:rPr>
              <a:t>English </a:t>
            </a:r>
            <a:r>
              <a:rPr lang="tr-TR" sz="1500" b="0" i="0" u="none" dirty="0" err="1">
                <a:solidFill>
                  <a:srgbClr val="F0F9FF"/>
                </a:solidFill>
                <a:latin typeface="Inter"/>
              </a:rPr>
              <a:t>Version</a:t>
            </a:r>
            <a:r>
              <a:rPr lang="tr-TR" sz="1500" dirty="0">
                <a:solidFill>
                  <a:srgbClr val="F0F9FF"/>
                </a:solidFill>
                <a:latin typeface="Inter"/>
              </a:rPr>
              <a:t>: </a:t>
            </a:r>
            <a:r>
              <a:rPr lang="tr-TR" sz="1500" dirty="0">
                <a:solidFill>
                  <a:srgbClr val="F0F9FF"/>
                </a:solidFill>
                <a:latin typeface="Inter"/>
                <a:hlinkClick r:id="rId3"/>
              </a:rPr>
              <a:t>https://github.com/Caagan/Sozum-Soz-Uygulamasi-EN</a:t>
            </a:r>
            <a:endParaRPr lang="tr-TR" sz="1500" dirty="0">
              <a:solidFill>
                <a:srgbClr val="F0F9FF"/>
              </a:solidFill>
              <a:latin typeface="Inter"/>
            </a:endParaRPr>
          </a:p>
          <a:p>
            <a:pPr>
              <a:lnSpc>
                <a:spcPts val="2400"/>
              </a:lnSpc>
            </a:pPr>
            <a:r>
              <a:rPr lang="tr-TR" sz="1500" dirty="0" err="1">
                <a:solidFill>
                  <a:srgbClr val="F0F9FF"/>
                </a:solidFill>
                <a:latin typeface="Inter"/>
              </a:rPr>
              <a:t>Turkish</a:t>
            </a:r>
            <a:r>
              <a:rPr lang="tr-TR" sz="1500" dirty="0">
                <a:solidFill>
                  <a:srgbClr val="F0F9FF"/>
                </a:solidFill>
                <a:latin typeface="Inter"/>
              </a:rPr>
              <a:t> </a:t>
            </a:r>
            <a:r>
              <a:rPr lang="tr-TR" sz="1500" dirty="0" err="1">
                <a:solidFill>
                  <a:srgbClr val="F0F9FF"/>
                </a:solidFill>
                <a:latin typeface="Inter"/>
              </a:rPr>
              <a:t>Version</a:t>
            </a:r>
            <a:r>
              <a:rPr lang="tr-TR" sz="1500" dirty="0">
                <a:solidFill>
                  <a:srgbClr val="F0F9FF"/>
                </a:solidFill>
                <a:latin typeface="Inter"/>
              </a:rPr>
              <a:t>: https://github.com/Caagan/Sozum-Soz-Uygulamasi-TR</a:t>
            </a:r>
            <a:endParaRPr sz="1500" b="0" i="0" u="none" dirty="0">
              <a:solidFill>
                <a:srgbClr val="38BDF8"/>
              </a:solidFill>
              <a:latin typeface="Inter"/>
            </a:endParaRPr>
          </a:p>
        </p:txBody>
      </p:sp>
      <p:pic>
        <p:nvPicPr>
          <p:cNvPr id="7" name="Picture 6" descr="image.png"/>
          <p:cNvPicPr>
            <a:picLocks noChangeAspect="1"/>
          </p:cNvPicPr>
          <p:nvPr/>
        </p:nvPicPr>
        <p:blipFill>
          <a:blip r:embed="rId4"/>
          <a:stretch>
            <a:fillRect/>
          </a:stretch>
        </p:blipFill>
        <p:spPr>
          <a:xfrm>
            <a:off x="2971800" y="2967037"/>
            <a:ext cx="285750" cy="247650"/>
          </a:xfrm>
          <a:prstGeom prst="rect">
            <a:avLst/>
          </a:prstGeom>
        </p:spPr>
      </p:pic>
      <p:pic>
        <p:nvPicPr>
          <p:cNvPr id="8" name="Picture 7" descr="image.png"/>
          <p:cNvPicPr>
            <a:picLocks noChangeAspect="1"/>
          </p:cNvPicPr>
          <p:nvPr/>
        </p:nvPicPr>
        <p:blipFill>
          <a:blip r:embed="rId5"/>
          <a:stretch>
            <a:fillRect/>
          </a:stretch>
        </p:blipFill>
        <p:spPr>
          <a:xfrm>
            <a:off x="2971800" y="3514725"/>
            <a:ext cx="219075" cy="238125"/>
          </a:xfrm>
          <a:prstGeom prst="rect">
            <a:avLst/>
          </a:prstGeom>
        </p:spPr>
      </p:pic>
      <p:pic>
        <p:nvPicPr>
          <p:cNvPr id="9" name="Picture 8" descr="image.png"/>
          <p:cNvPicPr>
            <a:picLocks noChangeAspect="1"/>
          </p:cNvPicPr>
          <p:nvPr/>
        </p:nvPicPr>
        <p:blipFill>
          <a:blip r:embed="rId6"/>
          <a:stretch>
            <a:fillRect/>
          </a:stretch>
        </p:blipFill>
        <p:spPr>
          <a:xfrm>
            <a:off x="2983756" y="5206017"/>
            <a:ext cx="285750" cy="247650"/>
          </a:xfrm>
          <a:prstGeom prst="rect">
            <a:avLst/>
          </a:prstGeom>
        </p:spPr>
      </p:pic>
      <p:sp>
        <p:nvSpPr>
          <p:cNvPr id="10" name="TextBox 5">
            <a:extLst>
              <a:ext uri="{FF2B5EF4-FFF2-40B4-BE49-F238E27FC236}">
                <a16:creationId xmlns:a16="http://schemas.microsoft.com/office/drawing/2014/main" id="{9893F051-E452-9753-5007-8B2ACAABC6B2}"/>
              </a:ext>
            </a:extLst>
          </p:cNvPr>
          <p:cNvSpPr txBox="1"/>
          <p:nvPr/>
        </p:nvSpPr>
        <p:spPr>
          <a:xfrm>
            <a:off x="3400425" y="4861868"/>
            <a:ext cx="5819775" cy="897169"/>
          </a:xfrm>
          <a:prstGeom prst="rect">
            <a:avLst/>
          </a:prstGeom>
          <a:noFill/>
        </p:spPr>
        <p:txBody>
          <a:bodyPr wrap="square" lIns="0" tIns="0" rIns="0" bIns="0" anchor="t">
            <a:spAutoFit/>
          </a:bodyPr>
          <a:lstStyle/>
          <a:p>
            <a:pPr algn="l">
              <a:lnSpc>
                <a:spcPts val="2400"/>
              </a:lnSpc>
            </a:pPr>
            <a:r>
              <a:rPr lang="tr-TR" sz="1500" b="0" i="0" u="none" dirty="0">
                <a:solidFill>
                  <a:srgbClr val="F0F9FF"/>
                </a:solidFill>
                <a:latin typeface="Inter"/>
              </a:rPr>
              <a:t>						</a:t>
            </a:r>
            <a:r>
              <a:rPr lang="tr-TR" sz="1500" b="0" i="0" u="none" dirty="0" err="1">
                <a:solidFill>
                  <a:srgbClr val="F0F9FF"/>
                </a:solidFill>
                <a:latin typeface="Inter"/>
              </a:rPr>
              <a:t>References</a:t>
            </a:r>
            <a:endParaRPr lang="tr-TR" sz="1500" b="0" i="0" u="none" dirty="0">
              <a:solidFill>
                <a:srgbClr val="F0F9FF"/>
              </a:solidFill>
              <a:latin typeface="Inter"/>
            </a:endParaRPr>
          </a:p>
          <a:p>
            <a:pPr algn="l">
              <a:lnSpc>
                <a:spcPts val="2400"/>
              </a:lnSpc>
            </a:pPr>
            <a:r>
              <a:rPr lang="tr-TR" sz="1500" b="0" i="0" u="none" dirty="0" err="1">
                <a:solidFill>
                  <a:srgbClr val="F0F9FF"/>
                </a:solidFill>
                <a:latin typeface="Inter"/>
              </a:rPr>
              <a:t>Republic</a:t>
            </a:r>
            <a:r>
              <a:rPr lang="tr-TR" sz="1500" b="0" i="0" u="none" dirty="0">
                <a:solidFill>
                  <a:srgbClr val="F0F9FF"/>
                </a:solidFill>
                <a:latin typeface="Inter"/>
              </a:rPr>
              <a:t> of Türkiye </a:t>
            </a:r>
            <a:r>
              <a:rPr lang="tr-TR" sz="1500" b="0" i="0" u="none" dirty="0" err="1">
                <a:solidFill>
                  <a:srgbClr val="F0F9FF"/>
                </a:solidFill>
                <a:latin typeface="Inter"/>
              </a:rPr>
              <a:t>Ministry</a:t>
            </a:r>
            <a:r>
              <a:rPr lang="tr-TR" sz="1500" b="0" i="0" u="none" dirty="0">
                <a:solidFill>
                  <a:srgbClr val="F0F9FF"/>
                </a:solidFill>
                <a:latin typeface="Inter"/>
              </a:rPr>
              <a:t> of Transport </a:t>
            </a:r>
            <a:r>
              <a:rPr lang="tr-TR" sz="1500" b="0" i="0" u="none" dirty="0" err="1">
                <a:solidFill>
                  <a:srgbClr val="F0F9FF"/>
                </a:solidFill>
                <a:latin typeface="Inter"/>
              </a:rPr>
              <a:t>and</a:t>
            </a:r>
            <a:r>
              <a:rPr lang="tr-TR" sz="1500" b="0" i="0" u="none" dirty="0">
                <a:solidFill>
                  <a:srgbClr val="F0F9FF"/>
                </a:solidFill>
                <a:latin typeface="Inter"/>
              </a:rPr>
              <a:t> </a:t>
            </a:r>
            <a:r>
              <a:rPr lang="tr-TR" sz="1500" b="0" i="0" u="none" dirty="0" err="1">
                <a:solidFill>
                  <a:srgbClr val="F0F9FF"/>
                </a:solidFill>
                <a:latin typeface="Inter"/>
              </a:rPr>
              <a:t>Infrastructure</a:t>
            </a:r>
            <a:r>
              <a:rPr lang="tr-TR" sz="1500" b="0" i="0" u="none" dirty="0">
                <a:solidFill>
                  <a:srgbClr val="F0F9FF"/>
                </a:solidFill>
                <a:latin typeface="Inter"/>
              </a:rPr>
              <a:t>. (2026). Haftada 2 Günümüz İnternette Geçiyor.</a:t>
            </a:r>
            <a:endParaRPr sz="1500" b="0" i="0" u="none" dirty="0">
              <a:solidFill>
                <a:srgbClr val="F0F9FF"/>
              </a:solidFill>
              <a:latin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295275" y="2024062"/>
            <a:ext cx="11601450" cy="1143000"/>
          </a:xfrm>
          <a:prstGeom prst="rect">
            <a:avLst/>
          </a:prstGeom>
          <a:noFill/>
        </p:spPr>
        <p:txBody>
          <a:bodyPr wrap="square" lIns="0" tIns="0" rIns="0" bIns="0" anchor="t">
            <a:spAutoFit/>
          </a:bodyPr>
          <a:lstStyle/>
          <a:p>
            <a:pPr algn="ctr"/>
            <a:r>
              <a:rPr sz="6000" b="1" i="0" u="none">
                <a:solidFill>
                  <a:srgbClr val="38BDF8"/>
                </a:solidFill>
                <a:latin typeface="Poppins"/>
              </a:rPr>
              <a:t>SÖZÜM SÖZ</a:t>
            </a:r>
          </a:p>
        </p:txBody>
      </p:sp>
      <p:sp>
        <p:nvSpPr>
          <p:cNvPr id="4" name="TextBox 3"/>
          <p:cNvSpPr txBox="1"/>
          <p:nvPr/>
        </p:nvSpPr>
        <p:spPr>
          <a:xfrm>
            <a:off x="571500" y="3548062"/>
            <a:ext cx="11049000" cy="426690"/>
          </a:xfrm>
          <a:prstGeom prst="rect">
            <a:avLst/>
          </a:prstGeom>
          <a:noFill/>
        </p:spPr>
        <p:txBody>
          <a:bodyPr wrap="square" lIns="0" tIns="0" rIns="0" bIns="0" anchor="t">
            <a:spAutoFit/>
          </a:bodyPr>
          <a:lstStyle/>
          <a:p>
            <a:pPr algn="ctr">
              <a:lnSpc>
                <a:spcPts val="3359"/>
              </a:lnSpc>
            </a:pPr>
            <a:r>
              <a:rPr sz="2100" b="0" i="1" u="none">
                <a:solidFill>
                  <a:srgbClr val="7DD3FC"/>
                </a:solidFill>
                <a:latin typeface="Inter"/>
              </a:rPr>
              <a:t>"Dijital alışkanlıklarımızı değiştirmek için küçük bir söz, büyük bir başlangıç olabilir."</a:t>
            </a:r>
          </a:p>
        </p:txBody>
      </p:sp>
      <p:sp>
        <p:nvSpPr>
          <p:cNvPr id="5" name="TextBox 4"/>
          <p:cNvSpPr txBox="1"/>
          <p:nvPr/>
        </p:nvSpPr>
        <p:spPr>
          <a:xfrm>
            <a:off x="571500" y="4355752"/>
            <a:ext cx="11049000" cy="335160"/>
          </a:xfrm>
          <a:prstGeom prst="rect">
            <a:avLst/>
          </a:prstGeom>
          <a:noFill/>
        </p:spPr>
        <p:txBody>
          <a:bodyPr wrap="square" lIns="0" tIns="0" rIns="0" bIns="0" anchor="t">
            <a:spAutoFit/>
          </a:bodyPr>
          <a:lstStyle/>
          <a:p>
            <a:pPr algn="ctr">
              <a:lnSpc>
                <a:spcPts val="2640"/>
              </a:lnSpc>
            </a:pPr>
            <a:r>
              <a:rPr sz="1650" b="0" i="0" u="none">
                <a:solidFill>
                  <a:srgbClr val="BAE6FD"/>
                </a:solidFill>
                <a:latin typeface="Inter"/>
              </a:rPr>
              <a:t>Sorularınız ve geri bildirimleriniz için teşekkür ederiz.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TotalTime>
  <Words>2072</Words>
  <Application>Microsoft Office PowerPoint</Application>
  <PresentationFormat>Geniş ekran</PresentationFormat>
  <Paragraphs>149</Paragraphs>
  <Slides>25</Slides>
  <Notes>1</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25</vt:i4>
      </vt:variant>
    </vt:vector>
  </HeadingPairs>
  <TitlesOfParts>
    <vt:vector size="34" baseType="lpstr">
      <vt:lpstr>Aptos</vt:lpstr>
      <vt:lpstr>Arial</vt:lpstr>
      <vt:lpstr>Calibri</vt:lpstr>
      <vt:lpstr>Inter</vt:lpstr>
      <vt:lpstr>Inter Medium</vt:lpstr>
      <vt:lpstr>Inter SemiBold</vt:lpstr>
      <vt:lpstr>monospace</vt:lpstr>
      <vt:lpstr>Poppins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Çağan Erdem Üstündağ</dc:creator>
  <cp:keywords/>
  <dc:description>generated using python-pptx</dc:description>
  <cp:lastModifiedBy>Çağan Erdem ÜSTÜNDAĞ</cp:lastModifiedBy>
  <cp:revision>7</cp:revision>
  <dcterms:created xsi:type="dcterms:W3CDTF">2013-01-27T09:14:16Z</dcterms:created>
  <dcterms:modified xsi:type="dcterms:W3CDTF">2026-08-30T17:28:05Z</dcterms:modified>
  <cp:category/>
</cp:coreProperties>
</file>